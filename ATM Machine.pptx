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9753600" cy="7315200"/>
  <p:notesSz cx="6858000" cy="9144000"/>
  <p:embeddedFontLst>
    <p:embeddedFont>
      <p:font typeface="Arimo Bold" charset="1" panose="020B0704020202020204"/>
      <p:regular r:id="rId18"/>
    </p:embeddedFont>
    <p:embeddedFont>
      <p:font typeface="Source Serif Pro" charset="1" panose="02040603050405020204"/>
      <p:regular r:id="rId19"/>
    </p:embeddedFont>
    <p:embeddedFont>
      <p:font typeface="Source Serif Pro Bold" charset="1" panose="02040803050405020204"/>
      <p:regular r:id="rId20"/>
    </p:embeddedFont>
    <p:embeddedFont>
      <p:font typeface="Arimo" charset="1" panose="020B060402020202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Slides/notesSlide2.xml" Type="http://schemas.openxmlformats.org/officeDocument/2006/relationships/notesSlide"/><Relationship Id="rId22" Target="fonts/font22.fntdata" Type="http://schemas.openxmlformats.org/officeDocument/2006/relationships/font"/><Relationship Id="rId23" Target="notesSlides/notesSlide3.xml" Type="http://schemas.openxmlformats.org/officeDocument/2006/relationships/notesSlide"/><Relationship Id="rId24" Target="notesSlides/notesSlide4.xml" Type="http://schemas.openxmlformats.org/officeDocument/2006/relationships/notesSlide"/><Relationship Id="rId25" Target="notesSlides/notesSlide5.xml" Type="http://schemas.openxmlformats.org/officeDocument/2006/relationships/notesSlide"/><Relationship Id="rId26" Target="notesSlides/notesSlide6.xml" Type="http://schemas.openxmlformats.org/officeDocument/2006/relationships/notesSlide"/><Relationship Id="rId27" Target="notesSlides/notesSlide7.xml" Type="http://schemas.openxmlformats.org/officeDocument/2006/relationships/notesSlide"/><Relationship Id="rId28" Target="notesSlides/notesSlide8.xml" Type="http://schemas.openxmlformats.org/officeDocument/2006/relationships/notesSlide"/><Relationship Id="rId29"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1.png" Type="http://schemas.openxmlformats.org/officeDocument/2006/relationships/image"/><Relationship Id="rId4" Target="../media/image1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4.png" Type="http://schemas.openxmlformats.org/officeDocument/2006/relationships/image"/><Relationship Id="rId4"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6.png" Type="http://schemas.openxmlformats.org/officeDocument/2006/relationships/image"/><Relationship Id="rId4" Target="https://docs.python.org" TargetMode="External" Type="http://schemas.openxmlformats.org/officeDocument/2006/relationships/hyperlink"/><Relationship Id="rId5" Target="https://sqlite.org/docs.html"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grpSp>
        <p:nvGrpSpPr>
          <p:cNvPr name="Group 6" id="6"/>
          <p:cNvGrpSpPr>
            <a:grpSpLocks noChangeAspect="true"/>
          </p:cNvGrpSpPr>
          <p:nvPr/>
        </p:nvGrpSpPr>
        <p:grpSpPr>
          <a:xfrm rot="0">
            <a:off x="8559477" y="6995160"/>
            <a:ext cx="1148403" cy="274320"/>
            <a:chOff x="0" y="0"/>
            <a:chExt cx="1531204" cy="365760"/>
          </a:xfrm>
        </p:grpSpPr>
        <p:sp>
          <p:nvSpPr>
            <p:cNvPr name="Freeform 7" id="7" descr="preencoded.png">
              <a:hlinkClick r:id="rId3" tooltip="https://gamma.app/?utm_source=made-with-gamma"/>
            </p:cNvPr>
            <p:cNvSpPr/>
            <p:nvPr/>
          </p:nvSpPr>
          <p:spPr>
            <a:xfrm flipH="false" flipV="false" rot="0">
              <a:off x="0" y="0"/>
              <a:ext cx="1531239" cy="365760"/>
            </a:xfrm>
            <a:custGeom>
              <a:avLst/>
              <a:gdLst/>
              <a:ahLst/>
              <a:cxnLst/>
              <a:rect r="r" b="b" t="t" l="l"/>
              <a:pathLst>
                <a:path h="365760" w="1531239">
                  <a:moveTo>
                    <a:pt x="0" y="0"/>
                  </a:moveTo>
                  <a:lnTo>
                    <a:pt x="1531239" y="0"/>
                  </a:lnTo>
                  <a:lnTo>
                    <a:pt x="1531239" y="365760"/>
                  </a:lnTo>
                  <a:lnTo>
                    <a:pt x="0" y="365760"/>
                  </a:lnTo>
                  <a:lnTo>
                    <a:pt x="0" y="0"/>
                  </a:lnTo>
                  <a:close/>
                </a:path>
              </a:pathLst>
            </a:custGeom>
            <a:blipFill>
              <a:blip r:embed="rId4"/>
              <a:stretch>
                <a:fillRect l="0" t="0" r="2" b="0"/>
              </a:stretch>
            </a:blipFill>
          </p:spPr>
        </p:sp>
      </p:grpSp>
      <p:grpSp>
        <p:nvGrpSpPr>
          <p:cNvPr name="Group 8" id="8"/>
          <p:cNvGrpSpPr>
            <a:grpSpLocks noChangeAspect="true"/>
          </p:cNvGrpSpPr>
          <p:nvPr/>
        </p:nvGrpSpPr>
        <p:grpSpPr>
          <a:xfrm rot="0">
            <a:off x="6096000" y="0"/>
            <a:ext cx="3657600" cy="7315200"/>
            <a:chOff x="0" y="0"/>
            <a:chExt cx="4876800" cy="9753600"/>
          </a:xfrm>
        </p:grpSpPr>
        <p:sp>
          <p:nvSpPr>
            <p:cNvPr name="Freeform 9" id="9" descr="preencoded.png"/>
            <p:cNvSpPr/>
            <p:nvPr/>
          </p:nvSpPr>
          <p:spPr>
            <a:xfrm flipH="false" flipV="false" rot="0">
              <a:off x="0" y="0"/>
              <a:ext cx="4876800" cy="9753600"/>
            </a:xfrm>
            <a:custGeom>
              <a:avLst/>
              <a:gdLst/>
              <a:ahLst/>
              <a:cxnLst/>
              <a:rect r="r" b="b" t="t" l="l"/>
              <a:pathLst>
                <a:path h="9753600" w="4876800">
                  <a:moveTo>
                    <a:pt x="0" y="0"/>
                  </a:moveTo>
                  <a:lnTo>
                    <a:pt x="4876800" y="0"/>
                  </a:lnTo>
                  <a:lnTo>
                    <a:pt x="4876800" y="9753600"/>
                  </a:lnTo>
                  <a:lnTo>
                    <a:pt x="0" y="9753600"/>
                  </a:lnTo>
                  <a:lnTo>
                    <a:pt x="0" y="0"/>
                  </a:lnTo>
                  <a:close/>
                </a:path>
              </a:pathLst>
            </a:custGeom>
            <a:blipFill>
              <a:blip r:embed="rId5"/>
              <a:stretch>
                <a:fillRect l="0" t="0" r="0" b="0"/>
              </a:stretch>
            </a:blipFill>
          </p:spPr>
        </p:sp>
      </p:grpSp>
      <p:sp>
        <p:nvSpPr>
          <p:cNvPr name="TextBox 10" id="10"/>
          <p:cNvSpPr txBox="true"/>
          <p:nvPr/>
        </p:nvSpPr>
        <p:spPr>
          <a:xfrm rot="0">
            <a:off x="529193" y="835718"/>
            <a:ext cx="5037614" cy="1179195"/>
          </a:xfrm>
          <a:prstGeom prst="rect">
            <a:avLst/>
          </a:prstGeom>
        </p:spPr>
        <p:txBody>
          <a:bodyPr anchor="t" rtlCol="false" tIns="0" lIns="0" bIns="0" rIns="0">
            <a:spAutoFit/>
          </a:bodyPr>
          <a:lstStyle/>
          <a:p>
            <a:pPr algn="l">
              <a:lnSpc>
                <a:spcPts val="4466"/>
              </a:lnSpc>
            </a:pPr>
            <a:r>
              <a:rPr lang="en-US" sz="3566" b="true">
                <a:solidFill>
                  <a:srgbClr val="201B18"/>
                </a:solidFill>
                <a:latin typeface="Arimo Bold"/>
                <a:ea typeface="Arimo Bold"/>
                <a:cs typeface="Arimo Bold"/>
                <a:sym typeface="Arimo Bold"/>
              </a:rPr>
              <a:t>ATM Machine Simulation</a:t>
            </a:r>
          </a:p>
        </p:txBody>
      </p:sp>
      <p:sp>
        <p:nvSpPr>
          <p:cNvPr name="TextBox 11" id="11"/>
          <p:cNvSpPr txBox="true"/>
          <p:nvPr/>
        </p:nvSpPr>
        <p:spPr>
          <a:xfrm rot="0">
            <a:off x="534273" y="2409745"/>
            <a:ext cx="5037614" cy="576898"/>
          </a:xfrm>
          <a:prstGeom prst="rect">
            <a:avLst/>
          </a:prstGeom>
        </p:spPr>
        <p:txBody>
          <a:bodyPr anchor="t" rtlCol="false" tIns="0" lIns="0" bIns="0" rIns="0">
            <a:spAutoFit/>
          </a:bodyPr>
          <a:lstStyle/>
          <a:p>
            <a:pPr algn="l">
              <a:lnSpc>
                <a:spcPts val="2066"/>
              </a:lnSpc>
            </a:pPr>
            <a:r>
              <a:rPr lang="en-US" sz="1300">
                <a:solidFill>
                  <a:srgbClr val="504C49"/>
                </a:solidFill>
                <a:latin typeface="Source Serif Pro"/>
                <a:ea typeface="Source Serif Pro"/>
                <a:cs typeface="Source Serif Pro"/>
                <a:sym typeface="Source Serif Pro"/>
              </a:rPr>
              <a:t>A Python-based ATM system designed for the Information System Analysis &amp; Design.</a:t>
            </a:r>
          </a:p>
        </p:txBody>
      </p:sp>
      <p:sp>
        <p:nvSpPr>
          <p:cNvPr name="TextBox 12" id="12"/>
          <p:cNvSpPr txBox="true"/>
          <p:nvPr/>
        </p:nvSpPr>
        <p:spPr>
          <a:xfrm rot="0">
            <a:off x="529193" y="4274619"/>
            <a:ext cx="2357437" cy="461486"/>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Course</a:t>
            </a:r>
            <a:r>
              <a:rPr lang="en-US" sz="1033">
                <a:solidFill>
                  <a:srgbClr val="504C49"/>
                </a:solidFill>
                <a:latin typeface="Source Serif Pro"/>
                <a:ea typeface="Source Serif Pro"/>
                <a:cs typeface="Source Serif Pro"/>
                <a:sym typeface="Source Serif Pro"/>
              </a:rPr>
              <a:t>: Information System Analysis &amp; Design</a:t>
            </a:r>
          </a:p>
        </p:txBody>
      </p:sp>
      <p:sp>
        <p:nvSpPr>
          <p:cNvPr name="TextBox 13" id="13"/>
          <p:cNvSpPr txBox="true"/>
          <p:nvPr/>
        </p:nvSpPr>
        <p:spPr>
          <a:xfrm rot="0">
            <a:off x="529193" y="3717883"/>
            <a:ext cx="2518807" cy="490467"/>
          </a:xfrm>
          <a:prstGeom prst="rect">
            <a:avLst/>
          </a:prstGeom>
        </p:spPr>
        <p:txBody>
          <a:bodyPr anchor="t" rtlCol="false" tIns="0" lIns="0" bIns="0" rIns="0">
            <a:spAutoFit/>
          </a:bodyPr>
          <a:lstStyle/>
          <a:p>
            <a:pPr algn="l" marL="88804" indent="-44402" lvl="1">
              <a:lnSpc>
                <a:spcPts val="1780"/>
              </a:lnSpc>
              <a:buFont typeface="Arial"/>
              <a:buChar char="•"/>
            </a:pPr>
            <a:r>
              <a:rPr lang="en-US" b="true" sz="1104">
                <a:solidFill>
                  <a:srgbClr val="504C49"/>
                </a:solidFill>
                <a:latin typeface="Source Serif Pro Bold"/>
                <a:ea typeface="Source Serif Pro Bold"/>
                <a:cs typeface="Source Serif Pro Bold"/>
                <a:sym typeface="Source Serif Pro Bold"/>
              </a:rPr>
              <a:t>Prepared For</a:t>
            </a:r>
            <a:r>
              <a:rPr lang="en-US" sz="1104">
                <a:solidFill>
                  <a:srgbClr val="504C49"/>
                </a:solidFill>
                <a:latin typeface="Source Serif Pro"/>
                <a:ea typeface="Source Serif Pro"/>
                <a:cs typeface="Source Serif Pro"/>
                <a:sym typeface="Source Serif Pro"/>
              </a:rPr>
              <a:t>: Anamul Haque, Lecturer, CSE, Feni University</a:t>
            </a:r>
          </a:p>
        </p:txBody>
      </p:sp>
      <p:sp>
        <p:nvSpPr>
          <p:cNvPr name="TextBox 14" id="14"/>
          <p:cNvSpPr txBox="true"/>
          <p:nvPr/>
        </p:nvSpPr>
        <p:spPr>
          <a:xfrm rot="0">
            <a:off x="3312597" y="3708358"/>
            <a:ext cx="2357588" cy="446365"/>
          </a:xfrm>
          <a:prstGeom prst="rect">
            <a:avLst/>
          </a:prstGeom>
        </p:spPr>
        <p:txBody>
          <a:bodyPr anchor="t" rtlCol="false" tIns="0" lIns="0" bIns="0" rIns="0">
            <a:spAutoFit/>
          </a:bodyPr>
          <a:lstStyle/>
          <a:p>
            <a:pPr algn="l" marL="90794" indent="-45397" lvl="1">
              <a:lnSpc>
                <a:spcPts val="1820"/>
              </a:lnSpc>
              <a:buFont typeface="Arial"/>
              <a:buChar char="•"/>
            </a:pPr>
            <a:r>
              <a:rPr lang="en-US" b="true" sz="1129">
                <a:solidFill>
                  <a:srgbClr val="504C49"/>
                </a:solidFill>
                <a:latin typeface="Source Serif Pro Bold"/>
                <a:ea typeface="Source Serif Pro Bold"/>
                <a:cs typeface="Source Serif Pro Bold"/>
                <a:sym typeface="Source Serif Pro Bold"/>
              </a:rPr>
              <a:t>Prepared by </a:t>
            </a:r>
            <a:r>
              <a:rPr lang="en-US" sz="1129">
                <a:solidFill>
                  <a:srgbClr val="504C49"/>
                </a:solidFill>
                <a:latin typeface="Source Serif Pro"/>
                <a:ea typeface="Source Serif Pro"/>
                <a:cs typeface="Source Serif Pro"/>
                <a:sym typeface="Source Serif Pro"/>
              </a:rPr>
              <a:t>: </a:t>
            </a:r>
          </a:p>
          <a:p>
            <a:pPr algn="l">
              <a:lnSpc>
                <a:spcPts val="1821"/>
              </a:lnSpc>
            </a:pPr>
            <a:r>
              <a:rPr lang="en-US" sz="1129">
                <a:solidFill>
                  <a:srgbClr val="504C49"/>
                </a:solidFill>
                <a:latin typeface="Source Serif Pro"/>
                <a:ea typeface="Source Serif Pro"/>
                <a:cs typeface="Source Serif Pro"/>
                <a:sym typeface="Source Serif Pro"/>
              </a:rPr>
              <a:t>   </a:t>
            </a:r>
            <a:r>
              <a:rPr lang="en-US" sz="1129">
                <a:solidFill>
                  <a:srgbClr val="504C49"/>
                </a:solidFill>
                <a:latin typeface="Source Serif Pro"/>
                <a:ea typeface="Source Serif Pro"/>
                <a:cs typeface="Source Serif Pro"/>
                <a:sym typeface="Source Serif Pro"/>
              </a:rPr>
              <a:t>Md. Abdul Al Noman </a:t>
            </a:r>
          </a:p>
        </p:txBody>
      </p:sp>
      <p:grpSp>
        <p:nvGrpSpPr>
          <p:cNvPr name="Group 15" id="15"/>
          <p:cNvGrpSpPr/>
          <p:nvPr/>
        </p:nvGrpSpPr>
        <p:grpSpPr>
          <a:xfrm rot="0">
            <a:off x="529193" y="5885943"/>
            <a:ext cx="3634946" cy="429640"/>
            <a:chOff x="0" y="0"/>
            <a:chExt cx="4846595" cy="572853"/>
          </a:xfrm>
        </p:grpSpPr>
        <p:sp>
          <p:nvSpPr>
            <p:cNvPr name="TextBox 16" id="16"/>
            <p:cNvSpPr txBox="true"/>
            <p:nvPr/>
          </p:nvSpPr>
          <p:spPr>
            <a:xfrm rot="0">
              <a:off x="0" y="-38100"/>
              <a:ext cx="3143250" cy="245152"/>
            </a:xfrm>
            <a:prstGeom prst="rect">
              <a:avLst/>
            </a:prstGeom>
          </p:spPr>
          <p:txBody>
            <a:bodyPr anchor="t" rtlCol="false" tIns="0" lIns="0" bIns="0" rIns="0">
              <a:spAutoFit/>
            </a:bodyPr>
            <a:lstStyle/>
            <a:p>
              <a:pPr algn="l">
                <a:lnSpc>
                  <a:spcPts val="1666"/>
                </a:lnSpc>
              </a:pPr>
              <a:r>
                <a:rPr lang="en-US" b="true" sz="1033">
                  <a:solidFill>
                    <a:srgbClr val="504C49"/>
                  </a:solidFill>
                  <a:latin typeface="Source Serif Pro Bold"/>
                  <a:ea typeface="Source Serif Pro Bold"/>
                  <a:cs typeface="Source Serif Pro Bold"/>
                  <a:sym typeface="Source Serif Pro Bold"/>
                </a:rPr>
                <a:t>Technologies Used:</a:t>
              </a:r>
            </a:p>
          </p:txBody>
        </p:sp>
        <p:sp>
          <p:nvSpPr>
            <p:cNvPr name="TextBox 17" id="17"/>
            <p:cNvSpPr txBox="true"/>
            <p:nvPr/>
          </p:nvSpPr>
          <p:spPr>
            <a:xfrm rot="0">
              <a:off x="0" y="327701"/>
              <a:ext cx="4846595" cy="245152"/>
            </a:xfrm>
            <a:prstGeom prst="rect">
              <a:avLst/>
            </a:prstGeom>
          </p:spPr>
          <p:txBody>
            <a:bodyPr anchor="t" rtlCol="false" tIns="0" lIns="0" bIns="0" rIns="0">
              <a:spAutoFit/>
            </a:bodyPr>
            <a:lstStyle/>
            <a:p>
              <a:pPr algn="l">
                <a:lnSpc>
                  <a:spcPts val="1666"/>
                </a:lnSpc>
              </a:pPr>
              <a:r>
                <a:rPr lang="en-US" sz="1033">
                  <a:solidFill>
                    <a:srgbClr val="504C49"/>
                  </a:solidFill>
                  <a:latin typeface="Source Serif Pro"/>
                  <a:ea typeface="Source Serif Pro"/>
                  <a:cs typeface="Source Serif Pro"/>
                  <a:sym typeface="Source Serif Pro"/>
                </a:rPr>
                <a:t>Python (Tkinter for GUI, SQLite3 for database)</a:t>
              </a:r>
            </a:p>
          </p:txBody>
        </p:sp>
      </p:grpSp>
      <p:sp>
        <p:nvSpPr>
          <p:cNvPr name="TextBox 18" id="18"/>
          <p:cNvSpPr txBox="true"/>
          <p:nvPr/>
        </p:nvSpPr>
        <p:spPr>
          <a:xfrm rot="0">
            <a:off x="529193" y="4831355"/>
            <a:ext cx="2357437" cy="461486"/>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Department</a:t>
            </a:r>
            <a:r>
              <a:rPr lang="en-US" sz="1033">
                <a:solidFill>
                  <a:srgbClr val="504C49"/>
                </a:solidFill>
                <a:latin typeface="Source Serif Pro"/>
                <a:ea typeface="Source Serif Pro"/>
                <a:cs typeface="Source Serif Pro"/>
                <a:sym typeface="Source Serif Pro"/>
              </a:rPr>
              <a:t>: Computer Science &amp; Engineering</a:t>
            </a:r>
          </a:p>
        </p:txBody>
      </p:sp>
      <p:sp>
        <p:nvSpPr>
          <p:cNvPr name="TextBox 19" id="19"/>
          <p:cNvSpPr txBox="true"/>
          <p:nvPr/>
        </p:nvSpPr>
        <p:spPr>
          <a:xfrm rot="0">
            <a:off x="529193" y="5300366"/>
            <a:ext cx="2357437" cy="193389"/>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Feni University</a:t>
            </a:r>
          </a:p>
        </p:txBody>
      </p:sp>
      <p:grpSp>
        <p:nvGrpSpPr>
          <p:cNvPr name="Group 20" id="20"/>
          <p:cNvGrpSpPr/>
          <p:nvPr/>
        </p:nvGrpSpPr>
        <p:grpSpPr>
          <a:xfrm rot="0">
            <a:off x="3156140" y="4362144"/>
            <a:ext cx="2357437" cy="507310"/>
            <a:chOff x="0" y="0"/>
            <a:chExt cx="3143250" cy="676414"/>
          </a:xfrm>
        </p:grpSpPr>
        <p:sp>
          <p:nvSpPr>
            <p:cNvPr name="TextBox 21" id="21"/>
            <p:cNvSpPr txBox="true"/>
            <p:nvPr/>
          </p:nvSpPr>
          <p:spPr>
            <a:xfrm rot="0">
              <a:off x="0" y="-47625"/>
              <a:ext cx="3136794" cy="258832"/>
            </a:xfrm>
            <a:prstGeom prst="rect">
              <a:avLst/>
            </a:prstGeom>
          </p:spPr>
          <p:txBody>
            <a:bodyPr anchor="t" rtlCol="false" tIns="0" lIns="0" bIns="0" rIns="0">
              <a:spAutoFit/>
            </a:bodyPr>
            <a:lstStyle/>
            <a:p>
              <a:pPr algn="l" marL="227574" indent="-113787" lvl="1">
                <a:lnSpc>
                  <a:spcPts val="1700"/>
                </a:lnSpc>
                <a:buFont typeface="Arial"/>
                <a:buChar char="•"/>
              </a:pPr>
              <a:r>
                <a:rPr lang="en-US" b="true" sz="1054">
                  <a:solidFill>
                    <a:srgbClr val="504C49"/>
                  </a:solidFill>
                  <a:latin typeface="Source Serif Pro Bold"/>
                  <a:ea typeface="Source Serif Pro Bold"/>
                  <a:cs typeface="Source Serif Pro Bold"/>
                  <a:sym typeface="Source Serif Pro Bold"/>
                </a:rPr>
                <a:t>ID</a:t>
              </a:r>
              <a:r>
                <a:rPr lang="en-US" sz="1054">
                  <a:solidFill>
                    <a:srgbClr val="504C49"/>
                  </a:solidFill>
                  <a:latin typeface="Source Serif Pro"/>
                  <a:ea typeface="Source Serif Pro"/>
                  <a:cs typeface="Source Serif Pro"/>
                  <a:sym typeface="Source Serif Pro"/>
                </a:rPr>
                <a:t>: 232031044</a:t>
              </a:r>
            </a:p>
          </p:txBody>
        </p:sp>
        <p:sp>
          <p:nvSpPr>
            <p:cNvPr name="TextBox 22" id="22"/>
            <p:cNvSpPr txBox="true"/>
            <p:nvPr/>
          </p:nvSpPr>
          <p:spPr>
            <a:xfrm rot="0">
              <a:off x="6455" y="417582"/>
              <a:ext cx="3136794" cy="258832"/>
            </a:xfrm>
            <a:prstGeom prst="rect">
              <a:avLst/>
            </a:prstGeom>
          </p:spPr>
          <p:txBody>
            <a:bodyPr anchor="t" rtlCol="false" tIns="0" lIns="0" bIns="0" rIns="0">
              <a:spAutoFit/>
            </a:bodyPr>
            <a:lstStyle/>
            <a:p>
              <a:pPr algn="l" marL="227574" indent="-113787" lvl="1">
                <a:lnSpc>
                  <a:spcPts val="1700"/>
                </a:lnSpc>
                <a:buFont typeface="Arial"/>
                <a:buChar char="•"/>
              </a:pPr>
              <a:r>
                <a:rPr lang="en-US" b="true" sz="1054">
                  <a:solidFill>
                    <a:srgbClr val="504C49"/>
                  </a:solidFill>
                  <a:latin typeface="Source Serif Pro Bold"/>
                  <a:ea typeface="Source Serif Pro Bold"/>
                  <a:cs typeface="Source Serif Pro Bold"/>
                  <a:sym typeface="Source Serif Pro Bold"/>
                </a:rPr>
                <a:t>Batch</a:t>
              </a:r>
              <a:r>
                <a:rPr lang="en-US" sz="1054">
                  <a:solidFill>
                    <a:srgbClr val="504C49"/>
                  </a:solidFill>
                  <a:latin typeface="Source Serif Pro"/>
                  <a:ea typeface="Source Serif Pro"/>
                  <a:cs typeface="Source Serif Pro"/>
                  <a:sym typeface="Source Serif Pro"/>
                </a:rPr>
                <a:t>: 31</a:t>
              </a:r>
              <a:r>
                <a:rPr lang="en-US" sz="1054">
                  <a:solidFill>
                    <a:srgbClr val="504C49"/>
                  </a:solidFill>
                  <a:latin typeface="Source Serif Pro"/>
                  <a:ea typeface="Source Serif Pro"/>
                  <a:cs typeface="Source Serif Pro"/>
                  <a:sym typeface="Source Serif Pro"/>
                </a:rPr>
                <a:t>st</a:t>
              </a:r>
              <a:r>
                <a:rPr lang="en-US" sz="1054">
                  <a:solidFill>
                    <a:srgbClr val="504C49"/>
                  </a:solidFill>
                  <a:latin typeface="Source Serif Pro"/>
                  <a:ea typeface="Source Serif Pro"/>
                  <a:cs typeface="Source Serif Pro"/>
                  <a:sym typeface="Source Serif Pro"/>
                </a:rPr>
                <a:t> (UG)</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grpSp>
        <p:nvGrpSpPr>
          <p:cNvPr name="Group 6" id="6"/>
          <p:cNvGrpSpPr>
            <a:grpSpLocks noChangeAspect="true"/>
          </p:cNvGrpSpPr>
          <p:nvPr/>
        </p:nvGrpSpPr>
        <p:grpSpPr>
          <a:xfrm rot="0">
            <a:off x="0" y="0"/>
            <a:ext cx="3657600" cy="7315200"/>
            <a:chOff x="0" y="0"/>
            <a:chExt cx="4876800" cy="9753600"/>
          </a:xfrm>
        </p:grpSpPr>
        <p:sp>
          <p:nvSpPr>
            <p:cNvPr name="Freeform 7" id="7" descr="preencoded.png"/>
            <p:cNvSpPr/>
            <p:nvPr/>
          </p:nvSpPr>
          <p:spPr>
            <a:xfrm flipH="false" flipV="false" rot="0">
              <a:off x="0" y="0"/>
              <a:ext cx="4876800" cy="9753600"/>
            </a:xfrm>
            <a:custGeom>
              <a:avLst/>
              <a:gdLst/>
              <a:ahLst/>
              <a:cxnLst/>
              <a:rect r="r" b="b" t="t" l="l"/>
              <a:pathLst>
                <a:path h="9753600" w="4876800">
                  <a:moveTo>
                    <a:pt x="0" y="0"/>
                  </a:moveTo>
                  <a:lnTo>
                    <a:pt x="4876800" y="0"/>
                  </a:lnTo>
                  <a:lnTo>
                    <a:pt x="4876800" y="9753600"/>
                  </a:lnTo>
                  <a:lnTo>
                    <a:pt x="0" y="9753600"/>
                  </a:lnTo>
                  <a:lnTo>
                    <a:pt x="0" y="0"/>
                  </a:lnTo>
                  <a:close/>
                </a:path>
              </a:pathLst>
            </a:custGeom>
            <a:blipFill>
              <a:blip r:embed="rId3"/>
              <a:stretch>
                <a:fillRect l="0" t="0" r="0" b="0"/>
              </a:stretch>
            </a:blipFill>
          </p:spPr>
        </p:sp>
      </p:grpSp>
      <p:sp>
        <p:nvSpPr>
          <p:cNvPr name="TextBox 8" id="8"/>
          <p:cNvSpPr txBox="true"/>
          <p:nvPr/>
        </p:nvSpPr>
        <p:spPr>
          <a:xfrm rot="0">
            <a:off x="4186793" y="992346"/>
            <a:ext cx="4564856" cy="608647"/>
          </a:xfrm>
          <a:prstGeom prst="rect">
            <a:avLst/>
          </a:prstGeom>
        </p:spPr>
        <p:txBody>
          <a:bodyPr anchor="t" rtlCol="false" tIns="0" lIns="0" bIns="0" rIns="0">
            <a:spAutoFit/>
          </a:bodyPr>
          <a:lstStyle/>
          <a:p>
            <a:pPr algn="l">
              <a:lnSpc>
                <a:spcPts val="4466"/>
              </a:lnSpc>
            </a:pPr>
            <a:r>
              <a:rPr lang="en-US" sz="3566" b="true">
                <a:solidFill>
                  <a:srgbClr val="201B18"/>
                </a:solidFill>
                <a:latin typeface="Arimo Bold"/>
                <a:ea typeface="Arimo Bold"/>
                <a:cs typeface="Arimo Bold"/>
                <a:sym typeface="Arimo Bold"/>
              </a:rPr>
              <a:t>Introduction</a:t>
            </a:r>
          </a:p>
        </p:txBody>
      </p:sp>
      <p:sp>
        <p:nvSpPr>
          <p:cNvPr name="TextBox 9" id="9"/>
          <p:cNvSpPr txBox="true"/>
          <p:nvPr/>
        </p:nvSpPr>
        <p:spPr>
          <a:xfrm rot="0">
            <a:off x="4186793" y="1751806"/>
            <a:ext cx="5037614" cy="1106170"/>
          </a:xfrm>
          <a:prstGeom prst="rect">
            <a:avLst/>
          </a:prstGeom>
        </p:spPr>
        <p:txBody>
          <a:bodyPr anchor="t" rtlCol="false" tIns="0" lIns="0" bIns="0" rIns="0">
            <a:spAutoFit/>
          </a:bodyPr>
          <a:lstStyle/>
          <a:p>
            <a:pPr algn="l">
              <a:lnSpc>
                <a:spcPts val="2066"/>
              </a:lnSpc>
            </a:pPr>
            <a:r>
              <a:rPr lang="en-US" sz="1300">
                <a:solidFill>
                  <a:srgbClr val="504C49"/>
                </a:solidFill>
                <a:latin typeface="Source Serif Pro"/>
                <a:ea typeface="Source Serif Pro"/>
                <a:cs typeface="Source Serif Pro"/>
                <a:sym typeface="Source Serif Pro"/>
              </a:rPr>
              <a:t>This project serves as a practical simulation of a real-world ATM system, built entirely using Python. It offers a comprehensive demonstration of how software can interact with users through a graphical interface and manage data persistently.</a:t>
            </a:r>
          </a:p>
        </p:txBody>
      </p:sp>
      <p:grpSp>
        <p:nvGrpSpPr>
          <p:cNvPr name="Group 10" id="10"/>
          <p:cNvGrpSpPr/>
          <p:nvPr/>
        </p:nvGrpSpPr>
        <p:grpSpPr>
          <a:xfrm rot="0">
            <a:off x="4179173" y="2999185"/>
            <a:ext cx="5052854" cy="1019731"/>
            <a:chOff x="0" y="0"/>
            <a:chExt cx="6737139" cy="1359641"/>
          </a:xfrm>
        </p:grpSpPr>
        <p:sp>
          <p:nvSpPr>
            <p:cNvPr name="Freeform 11" id="11"/>
            <p:cNvSpPr/>
            <p:nvPr/>
          </p:nvSpPr>
          <p:spPr>
            <a:xfrm flipH="false" flipV="false" rot="0">
              <a:off x="10160" y="10160"/>
              <a:ext cx="6716776" cy="1339215"/>
            </a:xfrm>
            <a:custGeom>
              <a:avLst/>
              <a:gdLst/>
              <a:ahLst/>
              <a:cxnLst/>
              <a:rect r="r" b="b" t="t" l="l"/>
              <a:pathLst>
                <a:path h="1339215" w="6716776">
                  <a:moveTo>
                    <a:pt x="0" y="26416"/>
                  </a:moveTo>
                  <a:cubicBezTo>
                    <a:pt x="0" y="11811"/>
                    <a:pt x="11938" y="0"/>
                    <a:pt x="26797" y="0"/>
                  </a:cubicBezTo>
                  <a:lnTo>
                    <a:pt x="6689979" y="0"/>
                  </a:lnTo>
                  <a:cubicBezTo>
                    <a:pt x="6704711" y="0"/>
                    <a:pt x="6716776" y="11811"/>
                    <a:pt x="6716776" y="26416"/>
                  </a:cubicBezTo>
                  <a:lnTo>
                    <a:pt x="6716776" y="1312799"/>
                  </a:lnTo>
                  <a:cubicBezTo>
                    <a:pt x="6716776" y="1327404"/>
                    <a:pt x="6704838" y="1339215"/>
                    <a:pt x="6689979" y="1339215"/>
                  </a:cubicBezTo>
                  <a:lnTo>
                    <a:pt x="26797" y="1339215"/>
                  </a:lnTo>
                  <a:cubicBezTo>
                    <a:pt x="12065" y="1339215"/>
                    <a:pt x="0" y="1327404"/>
                    <a:pt x="0" y="1312799"/>
                  </a:cubicBezTo>
                  <a:close/>
                </a:path>
              </a:pathLst>
            </a:custGeom>
            <a:solidFill>
              <a:srgbClr val="FFFFFF"/>
            </a:solidFill>
            <a:ln w="12700">
              <a:solidFill>
                <a:srgbClr val="000000"/>
              </a:solidFill>
            </a:ln>
          </p:spPr>
        </p:sp>
        <p:sp>
          <p:nvSpPr>
            <p:cNvPr name="Freeform 12" id="12"/>
            <p:cNvSpPr/>
            <p:nvPr/>
          </p:nvSpPr>
          <p:spPr>
            <a:xfrm flipH="false" flipV="false" rot="0">
              <a:off x="0" y="0"/>
              <a:ext cx="6737096" cy="1359535"/>
            </a:xfrm>
            <a:custGeom>
              <a:avLst/>
              <a:gdLst/>
              <a:ahLst/>
              <a:cxnLst/>
              <a:rect r="r" b="b" t="t" l="l"/>
              <a:pathLst>
                <a:path h="1359535" w="6737096">
                  <a:moveTo>
                    <a:pt x="0" y="36576"/>
                  </a:moveTo>
                  <a:cubicBezTo>
                    <a:pt x="0" y="16256"/>
                    <a:pt x="16637" y="0"/>
                    <a:pt x="36957" y="0"/>
                  </a:cubicBezTo>
                  <a:lnTo>
                    <a:pt x="6700139" y="0"/>
                  </a:lnTo>
                  <a:lnTo>
                    <a:pt x="6700139" y="10160"/>
                  </a:lnTo>
                  <a:lnTo>
                    <a:pt x="6700139" y="0"/>
                  </a:lnTo>
                  <a:cubicBezTo>
                    <a:pt x="6720459" y="0"/>
                    <a:pt x="6737096" y="16256"/>
                    <a:pt x="6737096" y="36576"/>
                  </a:cubicBezTo>
                  <a:lnTo>
                    <a:pt x="6726936" y="36576"/>
                  </a:lnTo>
                  <a:lnTo>
                    <a:pt x="6737096" y="36576"/>
                  </a:lnTo>
                  <a:lnTo>
                    <a:pt x="6737096" y="1322959"/>
                  </a:lnTo>
                  <a:lnTo>
                    <a:pt x="6726936" y="1322959"/>
                  </a:lnTo>
                  <a:lnTo>
                    <a:pt x="6737096" y="1322959"/>
                  </a:lnTo>
                  <a:cubicBezTo>
                    <a:pt x="6737096" y="1343279"/>
                    <a:pt x="6720459" y="1359535"/>
                    <a:pt x="6700139" y="1359535"/>
                  </a:cubicBezTo>
                  <a:lnTo>
                    <a:pt x="6700139" y="1349375"/>
                  </a:lnTo>
                  <a:lnTo>
                    <a:pt x="6700139" y="1359535"/>
                  </a:lnTo>
                  <a:lnTo>
                    <a:pt x="36957" y="1359535"/>
                  </a:lnTo>
                  <a:lnTo>
                    <a:pt x="36957" y="1349375"/>
                  </a:lnTo>
                  <a:lnTo>
                    <a:pt x="36957" y="1359535"/>
                  </a:lnTo>
                  <a:cubicBezTo>
                    <a:pt x="16637" y="1359535"/>
                    <a:pt x="0" y="1343279"/>
                    <a:pt x="0" y="1322959"/>
                  </a:cubicBezTo>
                  <a:lnTo>
                    <a:pt x="0" y="36576"/>
                  </a:lnTo>
                  <a:lnTo>
                    <a:pt x="10160" y="36576"/>
                  </a:lnTo>
                  <a:lnTo>
                    <a:pt x="0" y="36576"/>
                  </a:lnTo>
                  <a:moveTo>
                    <a:pt x="20320" y="36576"/>
                  </a:moveTo>
                  <a:lnTo>
                    <a:pt x="20320" y="1322959"/>
                  </a:lnTo>
                  <a:lnTo>
                    <a:pt x="10160" y="1322959"/>
                  </a:lnTo>
                  <a:lnTo>
                    <a:pt x="20320" y="1322959"/>
                  </a:lnTo>
                  <a:cubicBezTo>
                    <a:pt x="20320" y="1331849"/>
                    <a:pt x="27686" y="1339215"/>
                    <a:pt x="36957" y="1339215"/>
                  </a:cubicBezTo>
                  <a:lnTo>
                    <a:pt x="6700139" y="1339215"/>
                  </a:lnTo>
                  <a:cubicBezTo>
                    <a:pt x="6709410" y="1339215"/>
                    <a:pt x="6716776" y="1331849"/>
                    <a:pt x="6716776" y="1322959"/>
                  </a:cubicBezTo>
                  <a:lnTo>
                    <a:pt x="6716776" y="36576"/>
                  </a:lnTo>
                  <a:cubicBezTo>
                    <a:pt x="6716776" y="27686"/>
                    <a:pt x="6709410" y="20320"/>
                    <a:pt x="6700139" y="20320"/>
                  </a:cubicBezTo>
                  <a:lnTo>
                    <a:pt x="36957" y="20320"/>
                  </a:lnTo>
                  <a:lnTo>
                    <a:pt x="36957" y="10160"/>
                  </a:lnTo>
                  <a:lnTo>
                    <a:pt x="36957" y="20320"/>
                  </a:lnTo>
                  <a:cubicBezTo>
                    <a:pt x="27686" y="20320"/>
                    <a:pt x="20320" y="27686"/>
                    <a:pt x="20320" y="36576"/>
                  </a:cubicBezTo>
                  <a:close/>
                </a:path>
              </a:pathLst>
            </a:custGeom>
            <a:solidFill>
              <a:srgbClr val="D8D4D4"/>
            </a:solidFill>
            <a:ln w="12700">
              <a:solidFill>
                <a:srgbClr val="000000"/>
              </a:solidFill>
            </a:ln>
          </p:spPr>
        </p:sp>
      </p:grpSp>
      <p:grpSp>
        <p:nvGrpSpPr>
          <p:cNvPr name="Group 13" id="13"/>
          <p:cNvGrpSpPr/>
          <p:nvPr/>
        </p:nvGrpSpPr>
        <p:grpSpPr>
          <a:xfrm rot="0">
            <a:off x="4202033" y="3022045"/>
            <a:ext cx="529193" cy="974011"/>
            <a:chOff x="0" y="0"/>
            <a:chExt cx="705591" cy="1298681"/>
          </a:xfrm>
        </p:grpSpPr>
        <p:sp>
          <p:nvSpPr>
            <p:cNvPr name="Freeform 14" id="14"/>
            <p:cNvSpPr/>
            <p:nvPr/>
          </p:nvSpPr>
          <p:spPr>
            <a:xfrm flipH="false" flipV="false" rot="0">
              <a:off x="0" y="0"/>
              <a:ext cx="705485" cy="1298575"/>
            </a:xfrm>
            <a:custGeom>
              <a:avLst/>
              <a:gdLst/>
              <a:ahLst/>
              <a:cxnLst/>
              <a:rect r="r" b="b" t="t" l="l"/>
              <a:pathLst>
                <a:path h="1298575" w="705485">
                  <a:moveTo>
                    <a:pt x="0" y="2032"/>
                  </a:moveTo>
                  <a:cubicBezTo>
                    <a:pt x="0" y="889"/>
                    <a:pt x="889" y="0"/>
                    <a:pt x="2032" y="0"/>
                  </a:cubicBezTo>
                  <a:lnTo>
                    <a:pt x="703453" y="0"/>
                  </a:lnTo>
                  <a:cubicBezTo>
                    <a:pt x="704596" y="0"/>
                    <a:pt x="705485" y="889"/>
                    <a:pt x="705485" y="2032"/>
                  </a:cubicBezTo>
                  <a:lnTo>
                    <a:pt x="705485" y="1296543"/>
                  </a:lnTo>
                  <a:cubicBezTo>
                    <a:pt x="705485" y="1297686"/>
                    <a:pt x="704596" y="1298575"/>
                    <a:pt x="703453" y="1298575"/>
                  </a:cubicBezTo>
                  <a:lnTo>
                    <a:pt x="2032" y="1298575"/>
                  </a:lnTo>
                  <a:cubicBezTo>
                    <a:pt x="889" y="1298575"/>
                    <a:pt x="0" y="1297686"/>
                    <a:pt x="0" y="1296543"/>
                  </a:cubicBezTo>
                  <a:close/>
                </a:path>
              </a:pathLst>
            </a:custGeom>
            <a:solidFill>
              <a:srgbClr val="F9F7F7"/>
            </a:solidFill>
            <a:ln w="12700">
              <a:solidFill>
                <a:srgbClr val="000000"/>
              </a:solidFill>
            </a:ln>
          </p:spPr>
        </p:sp>
      </p:grpSp>
      <p:sp>
        <p:nvSpPr>
          <p:cNvPr name="Freeform 15" id="15" descr="preencoded.png"/>
          <p:cNvSpPr/>
          <p:nvPr/>
        </p:nvSpPr>
        <p:spPr>
          <a:xfrm flipH="false" flipV="false" rot="0">
            <a:off x="4367371" y="3409791"/>
            <a:ext cx="198437" cy="198437"/>
          </a:xfrm>
          <a:custGeom>
            <a:avLst/>
            <a:gdLst/>
            <a:ahLst/>
            <a:cxnLst/>
            <a:rect r="r" b="b" t="t" l="l"/>
            <a:pathLst>
              <a:path h="198437" w="198437">
                <a:moveTo>
                  <a:pt x="0" y="0"/>
                </a:moveTo>
                <a:lnTo>
                  <a:pt x="198438" y="0"/>
                </a:lnTo>
                <a:lnTo>
                  <a:pt x="198438" y="198438"/>
                </a:lnTo>
                <a:lnTo>
                  <a:pt x="0" y="198438"/>
                </a:lnTo>
                <a:lnTo>
                  <a:pt x="0" y="0"/>
                </a:lnTo>
                <a:close/>
              </a:path>
            </a:pathLst>
          </a:custGeom>
          <a:blipFill>
            <a:blip r:embed="rId4">
              <a:extLst>
                <a:ext uri="{96DAC541-7B7A-43D3-8B79-37D633B846F1}">
                  <asvg:svgBlip xmlns:asvg="http://schemas.microsoft.com/office/drawing/2016/SVG/main" r:embed="rId5"/>
                </a:ext>
              </a:extLst>
            </a:blip>
            <a:stretch>
              <a:fillRect l="0" t="-23809" r="0" b="-23809"/>
            </a:stretch>
          </a:blipFill>
        </p:spPr>
      </p:sp>
      <p:sp>
        <p:nvSpPr>
          <p:cNvPr name="TextBox 16" id="16"/>
          <p:cNvSpPr txBox="true"/>
          <p:nvPr/>
        </p:nvSpPr>
        <p:spPr>
          <a:xfrm rot="0">
            <a:off x="4863465" y="3135233"/>
            <a:ext cx="2402523" cy="225822"/>
          </a:xfrm>
          <a:prstGeom prst="rect">
            <a:avLst/>
          </a:prstGeom>
        </p:spPr>
        <p:txBody>
          <a:bodyPr anchor="t" rtlCol="false" tIns="0" lIns="0" bIns="0" rIns="0">
            <a:spAutoFit/>
          </a:bodyPr>
          <a:lstStyle/>
          <a:p>
            <a:pPr algn="l">
              <a:lnSpc>
                <a:spcPts val="1599"/>
              </a:lnSpc>
            </a:pPr>
            <a:r>
              <a:rPr lang="en-US" sz="1300">
                <a:solidFill>
                  <a:srgbClr val="504C49"/>
                </a:solidFill>
                <a:latin typeface="Arimo"/>
                <a:ea typeface="Arimo"/>
                <a:cs typeface="Arimo"/>
                <a:sym typeface="Arimo"/>
              </a:rPr>
              <a:t>Graphical User Interface (GUI)</a:t>
            </a:r>
          </a:p>
        </p:txBody>
      </p:sp>
      <p:sp>
        <p:nvSpPr>
          <p:cNvPr name="TextBox 17" id="17"/>
          <p:cNvSpPr txBox="true"/>
          <p:nvPr/>
        </p:nvSpPr>
        <p:spPr>
          <a:xfrm rot="0">
            <a:off x="4863465" y="3402330"/>
            <a:ext cx="4213463" cy="461486"/>
          </a:xfrm>
          <a:prstGeom prst="rect">
            <a:avLst/>
          </a:prstGeom>
        </p:spPr>
        <p:txBody>
          <a:bodyPr anchor="t" rtlCol="false" tIns="0" lIns="0" bIns="0" rIns="0">
            <a:spAutoFit/>
          </a:bodyPr>
          <a:lstStyle/>
          <a:p>
            <a:pPr algn="l">
              <a:lnSpc>
                <a:spcPts val="1666"/>
              </a:lnSpc>
            </a:pPr>
            <a:r>
              <a:rPr lang="en-US" sz="1033">
                <a:solidFill>
                  <a:srgbClr val="504C49"/>
                </a:solidFill>
                <a:latin typeface="Source Serif Pro"/>
                <a:ea typeface="Source Serif Pro"/>
                <a:cs typeface="Source Serif Pro"/>
                <a:sym typeface="Source Serif Pro"/>
              </a:rPr>
              <a:t>Intuitive and responsive interface for seamless user interaction, mimicking a physical ATM.</a:t>
            </a:r>
          </a:p>
        </p:txBody>
      </p:sp>
      <p:grpSp>
        <p:nvGrpSpPr>
          <p:cNvPr name="Group 18" id="18"/>
          <p:cNvGrpSpPr/>
          <p:nvPr/>
        </p:nvGrpSpPr>
        <p:grpSpPr>
          <a:xfrm rot="0">
            <a:off x="4179173" y="4135914"/>
            <a:ext cx="5052854" cy="1019731"/>
            <a:chOff x="0" y="0"/>
            <a:chExt cx="6737139" cy="1359641"/>
          </a:xfrm>
        </p:grpSpPr>
        <p:sp>
          <p:nvSpPr>
            <p:cNvPr name="Freeform 19" id="19"/>
            <p:cNvSpPr/>
            <p:nvPr/>
          </p:nvSpPr>
          <p:spPr>
            <a:xfrm flipH="false" flipV="false" rot="0">
              <a:off x="10160" y="10160"/>
              <a:ext cx="6716776" cy="1339215"/>
            </a:xfrm>
            <a:custGeom>
              <a:avLst/>
              <a:gdLst/>
              <a:ahLst/>
              <a:cxnLst/>
              <a:rect r="r" b="b" t="t" l="l"/>
              <a:pathLst>
                <a:path h="1339215" w="6716776">
                  <a:moveTo>
                    <a:pt x="0" y="26416"/>
                  </a:moveTo>
                  <a:cubicBezTo>
                    <a:pt x="0" y="11811"/>
                    <a:pt x="11938" y="0"/>
                    <a:pt x="26797" y="0"/>
                  </a:cubicBezTo>
                  <a:lnTo>
                    <a:pt x="6689979" y="0"/>
                  </a:lnTo>
                  <a:cubicBezTo>
                    <a:pt x="6704711" y="0"/>
                    <a:pt x="6716776" y="11811"/>
                    <a:pt x="6716776" y="26416"/>
                  </a:cubicBezTo>
                  <a:lnTo>
                    <a:pt x="6716776" y="1312799"/>
                  </a:lnTo>
                  <a:cubicBezTo>
                    <a:pt x="6716776" y="1327404"/>
                    <a:pt x="6704838" y="1339215"/>
                    <a:pt x="6689979" y="1339215"/>
                  </a:cubicBezTo>
                  <a:lnTo>
                    <a:pt x="26797" y="1339215"/>
                  </a:lnTo>
                  <a:cubicBezTo>
                    <a:pt x="12065" y="1339215"/>
                    <a:pt x="0" y="1327404"/>
                    <a:pt x="0" y="1312799"/>
                  </a:cubicBezTo>
                  <a:close/>
                </a:path>
              </a:pathLst>
            </a:custGeom>
            <a:solidFill>
              <a:srgbClr val="FFFFFF"/>
            </a:solidFill>
            <a:ln w="12700">
              <a:solidFill>
                <a:srgbClr val="000000"/>
              </a:solidFill>
            </a:ln>
          </p:spPr>
        </p:sp>
        <p:sp>
          <p:nvSpPr>
            <p:cNvPr name="Freeform 20" id="20"/>
            <p:cNvSpPr/>
            <p:nvPr/>
          </p:nvSpPr>
          <p:spPr>
            <a:xfrm flipH="false" flipV="false" rot="0">
              <a:off x="0" y="0"/>
              <a:ext cx="6737096" cy="1359535"/>
            </a:xfrm>
            <a:custGeom>
              <a:avLst/>
              <a:gdLst/>
              <a:ahLst/>
              <a:cxnLst/>
              <a:rect r="r" b="b" t="t" l="l"/>
              <a:pathLst>
                <a:path h="1359535" w="6737096">
                  <a:moveTo>
                    <a:pt x="0" y="36576"/>
                  </a:moveTo>
                  <a:cubicBezTo>
                    <a:pt x="0" y="16256"/>
                    <a:pt x="16637" y="0"/>
                    <a:pt x="36957" y="0"/>
                  </a:cubicBezTo>
                  <a:lnTo>
                    <a:pt x="6700139" y="0"/>
                  </a:lnTo>
                  <a:lnTo>
                    <a:pt x="6700139" y="10160"/>
                  </a:lnTo>
                  <a:lnTo>
                    <a:pt x="6700139" y="0"/>
                  </a:lnTo>
                  <a:cubicBezTo>
                    <a:pt x="6720459" y="0"/>
                    <a:pt x="6737096" y="16256"/>
                    <a:pt x="6737096" y="36576"/>
                  </a:cubicBezTo>
                  <a:lnTo>
                    <a:pt x="6726936" y="36576"/>
                  </a:lnTo>
                  <a:lnTo>
                    <a:pt x="6737096" y="36576"/>
                  </a:lnTo>
                  <a:lnTo>
                    <a:pt x="6737096" y="1322959"/>
                  </a:lnTo>
                  <a:lnTo>
                    <a:pt x="6726936" y="1322959"/>
                  </a:lnTo>
                  <a:lnTo>
                    <a:pt x="6737096" y="1322959"/>
                  </a:lnTo>
                  <a:cubicBezTo>
                    <a:pt x="6737096" y="1343279"/>
                    <a:pt x="6720459" y="1359535"/>
                    <a:pt x="6700139" y="1359535"/>
                  </a:cubicBezTo>
                  <a:lnTo>
                    <a:pt x="6700139" y="1349375"/>
                  </a:lnTo>
                  <a:lnTo>
                    <a:pt x="6700139" y="1359535"/>
                  </a:lnTo>
                  <a:lnTo>
                    <a:pt x="36957" y="1359535"/>
                  </a:lnTo>
                  <a:lnTo>
                    <a:pt x="36957" y="1349375"/>
                  </a:lnTo>
                  <a:lnTo>
                    <a:pt x="36957" y="1359535"/>
                  </a:lnTo>
                  <a:cubicBezTo>
                    <a:pt x="16637" y="1359535"/>
                    <a:pt x="0" y="1343279"/>
                    <a:pt x="0" y="1322959"/>
                  </a:cubicBezTo>
                  <a:lnTo>
                    <a:pt x="0" y="36576"/>
                  </a:lnTo>
                  <a:lnTo>
                    <a:pt x="10160" y="36576"/>
                  </a:lnTo>
                  <a:lnTo>
                    <a:pt x="0" y="36576"/>
                  </a:lnTo>
                  <a:moveTo>
                    <a:pt x="20320" y="36576"/>
                  </a:moveTo>
                  <a:lnTo>
                    <a:pt x="20320" y="1322959"/>
                  </a:lnTo>
                  <a:lnTo>
                    <a:pt x="10160" y="1322959"/>
                  </a:lnTo>
                  <a:lnTo>
                    <a:pt x="20320" y="1322959"/>
                  </a:lnTo>
                  <a:cubicBezTo>
                    <a:pt x="20320" y="1331849"/>
                    <a:pt x="27686" y="1339215"/>
                    <a:pt x="36957" y="1339215"/>
                  </a:cubicBezTo>
                  <a:lnTo>
                    <a:pt x="6700139" y="1339215"/>
                  </a:lnTo>
                  <a:cubicBezTo>
                    <a:pt x="6709410" y="1339215"/>
                    <a:pt x="6716776" y="1331849"/>
                    <a:pt x="6716776" y="1322959"/>
                  </a:cubicBezTo>
                  <a:lnTo>
                    <a:pt x="6716776" y="36576"/>
                  </a:lnTo>
                  <a:cubicBezTo>
                    <a:pt x="6716776" y="27686"/>
                    <a:pt x="6709410" y="20320"/>
                    <a:pt x="6700139" y="20320"/>
                  </a:cubicBezTo>
                  <a:lnTo>
                    <a:pt x="36957" y="20320"/>
                  </a:lnTo>
                  <a:lnTo>
                    <a:pt x="36957" y="10160"/>
                  </a:lnTo>
                  <a:lnTo>
                    <a:pt x="36957" y="20320"/>
                  </a:lnTo>
                  <a:cubicBezTo>
                    <a:pt x="27686" y="20320"/>
                    <a:pt x="20320" y="27686"/>
                    <a:pt x="20320" y="36576"/>
                  </a:cubicBezTo>
                  <a:close/>
                </a:path>
              </a:pathLst>
            </a:custGeom>
            <a:solidFill>
              <a:srgbClr val="D8D4D4"/>
            </a:solidFill>
            <a:ln w="12700">
              <a:solidFill>
                <a:srgbClr val="000000"/>
              </a:solidFill>
            </a:ln>
          </p:spPr>
        </p:sp>
      </p:grpSp>
      <p:grpSp>
        <p:nvGrpSpPr>
          <p:cNvPr name="Group 21" id="21"/>
          <p:cNvGrpSpPr/>
          <p:nvPr/>
        </p:nvGrpSpPr>
        <p:grpSpPr>
          <a:xfrm rot="0">
            <a:off x="4202033" y="4158774"/>
            <a:ext cx="529193" cy="974011"/>
            <a:chOff x="0" y="0"/>
            <a:chExt cx="705591" cy="1298681"/>
          </a:xfrm>
        </p:grpSpPr>
        <p:sp>
          <p:nvSpPr>
            <p:cNvPr name="Freeform 22" id="22"/>
            <p:cNvSpPr/>
            <p:nvPr/>
          </p:nvSpPr>
          <p:spPr>
            <a:xfrm flipH="false" flipV="false" rot="0">
              <a:off x="0" y="0"/>
              <a:ext cx="705485" cy="1298575"/>
            </a:xfrm>
            <a:custGeom>
              <a:avLst/>
              <a:gdLst/>
              <a:ahLst/>
              <a:cxnLst/>
              <a:rect r="r" b="b" t="t" l="l"/>
              <a:pathLst>
                <a:path h="1298575" w="705485">
                  <a:moveTo>
                    <a:pt x="0" y="2032"/>
                  </a:moveTo>
                  <a:cubicBezTo>
                    <a:pt x="0" y="889"/>
                    <a:pt x="889" y="0"/>
                    <a:pt x="2032" y="0"/>
                  </a:cubicBezTo>
                  <a:lnTo>
                    <a:pt x="703453" y="0"/>
                  </a:lnTo>
                  <a:cubicBezTo>
                    <a:pt x="704596" y="0"/>
                    <a:pt x="705485" y="889"/>
                    <a:pt x="705485" y="2032"/>
                  </a:cubicBezTo>
                  <a:lnTo>
                    <a:pt x="705485" y="1296543"/>
                  </a:lnTo>
                  <a:cubicBezTo>
                    <a:pt x="705485" y="1297686"/>
                    <a:pt x="704596" y="1298575"/>
                    <a:pt x="703453" y="1298575"/>
                  </a:cubicBezTo>
                  <a:lnTo>
                    <a:pt x="2032" y="1298575"/>
                  </a:lnTo>
                  <a:cubicBezTo>
                    <a:pt x="889" y="1298575"/>
                    <a:pt x="0" y="1297686"/>
                    <a:pt x="0" y="1296543"/>
                  </a:cubicBezTo>
                  <a:close/>
                </a:path>
              </a:pathLst>
            </a:custGeom>
            <a:solidFill>
              <a:srgbClr val="F9F7F7"/>
            </a:solidFill>
            <a:ln w="12700">
              <a:solidFill>
                <a:srgbClr val="000000"/>
              </a:solidFill>
            </a:ln>
          </p:spPr>
        </p:sp>
      </p:grpSp>
      <p:sp>
        <p:nvSpPr>
          <p:cNvPr name="Freeform 23" id="23" descr="preencoded.png"/>
          <p:cNvSpPr/>
          <p:nvPr/>
        </p:nvSpPr>
        <p:spPr>
          <a:xfrm flipH="false" flipV="false" rot="0">
            <a:off x="4367371" y="4546521"/>
            <a:ext cx="198437" cy="198437"/>
          </a:xfrm>
          <a:custGeom>
            <a:avLst/>
            <a:gdLst/>
            <a:ahLst/>
            <a:cxnLst/>
            <a:rect r="r" b="b" t="t" l="l"/>
            <a:pathLst>
              <a:path h="198437" w="198437">
                <a:moveTo>
                  <a:pt x="0" y="0"/>
                </a:moveTo>
                <a:lnTo>
                  <a:pt x="198438" y="0"/>
                </a:lnTo>
                <a:lnTo>
                  <a:pt x="198438" y="198437"/>
                </a:lnTo>
                <a:lnTo>
                  <a:pt x="0" y="19843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4863465" y="4271963"/>
            <a:ext cx="2307987" cy="225822"/>
          </a:xfrm>
          <a:prstGeom prst="rect">
            <a:avLst/>
          </a:prstGeom>
        </p:spPr>
        <p:txBody>
          <a:bodyPr anchor="t" rtlCol="false" tIns="0" lIns="0" bIns="0" rIns="0">
            <a:spAutoFit/>
          </a:bodyPr>
          <a:lstStyle/>
          <a:p>
            <a:pPr algn="l">
              <a:lnSpc>
                <a:spcPts val="1599"/>
              </a:lnSpc>
            </a:pPr>
            <a:r>
              <a:rPr lang="en-US" sz="1300">
                <a:solidFill>
                  <a:srgbClr val="504C49"/>
                </a:solidFill>
                <a:latin typeface="Arimo"/>
                <a:ea typeface="Arimo"/>
                <a:cs typeface="Arimo"/>
                <a:sym typeface="Arimo"/>
              </a:rPr>
              <a:t>SQLite Database Integration</a:t>
            </a:r>
          </a:p>
        </p:txBody>
      </p:sp>
      <p:sp>
        <p:nvSpPr>
          <p:cNvPr name="TextBox 25" id="25"/>
          <p:cNvSpPr txBox="true"/>
          <p:nvPr/>
        </p:nvSpPr>
        <p:spPr>
          <a:xfrm rot="0">
            <a:off x="4863465" y="4539059"/>
            <a:ext cx="4213463" cy="461486"/>
          </a:xfrm>
          <a:prstGeom prst="rect">
            <a:avLst/>
          </a:prstGeom>
        </p:spPr>
        <p:txBody>
          <a:bodyPr anchor="t" rtlCol="false" tIns="0" lIns="0" bIns="0" rIns="0">
            <a:spAutoFit/>
          </a:bodyPr>
          <a:lstStyle/>
          <a:p>
            <a:pPr algn="l">
              <a:lnSpc>
                <a:spcPts val="1666"/>
              </a:lnSpc>
            </a:pPr>
            <a:r>
              <a:rPr lang="en-US" sz="1033">
                <a:solidFill>
                  <a:srgbClr val="504C49"/>
                </a:solidFill>
                <a:latin typeface="Source Serif Pro"/>
                <a:ea typeface="Source Serif Pro"/>
                <a:cs typeface="Source Serif Pro"/>
                <a:sym typeface="Source Serif Pro"/>
              </a:rPr>
              <a:t>Robust backend for storing essential data like user accounts, transaction records, and login/logout histories.</a:t>
            </a:r>
          </a:p>
        </p:txBody>
      </p:sp>
      <p:grpSp>
        <p:nvGrpSpPr>
          <p:cNvPr name="Group 26" id="26"/>
          <p:cNvGrpSpPr/>
          <p:nvPr/>
        </p:nvGrpSpPr>
        <p:grpSpPr>
          <a:xfrm rot="0">
            <a:off x="4179173" y="5272643"/>
            <a:ext cx="5052854" cy="1019731"/>
            <a:chOff x="0" y="0"/>
            <a:chExt cx="6737139" cy="1359641"/>
          </a:xfrm>
        </p:grpSpPr>
        <p:sp>
          <p:nvSpPr>
            <p:cNvPr name="Freeform 27" id="27"/>
            <p:cNvSpPr/>
            <p:nvPr/>
          </p:nvSpPr>
          <p:spPr>
            <a:xfrm flipH="false" flipV="false" rot="0">
              <a:off x="10160" y="10160"/>
              <a:ext cx="6716776" cy="1339215"/>
            </a:xfrm>
            <a:custGeom>
              <a:avLst/>
              <a:gdLst/>
              <a:ahLst/>
              <a:cxnLst/>
              <a:rect r="r" b="b" t="t" l="l"/>
              <a:pathLst>
                <a:path h="1339215" w="6716776">
                  <a:moveTo>
                    <a:pt x="0" y="26416"/>
                  </a:moveTo>
                  <a:cubicBezTo>
                    <a:pt x="0" y="11811"/>
                    <a:pt x="11938" y="0"/>
                    <a:pt x="26797" y="0"/>
                  </a:cubicBezTo>
                  <a:lnTo>
                    <a:pt x="6689979" y="0"/>
                  </a:lnTo>
                  <a:cubicBezTo>
                    <a:pt x="6704711" y="0"/>
                    <a:pt x="6716776" y="11811"/>
                    <a:pt x="6716776" y="26416"/>
                  </a:cubicBezTo>
                  <a:lnTo>
                    <a:pt x="6716776" y="1312799"/>
                  </a:lnTo>
                  <a:cubicBezTo>
                    <a:pt x="6716776" y="1327404"/>
                    <a:pt x="6704838" y="1339215"/>
                    <a:pt x="6689979" y="1339215"/>
                  </a:cubicBezTo>
                  <a:lnTo>
                    <a:pt x="26797" y="1339215"/>
                  </a:lnTo>
                  <a:cubicBezTo>
                    <a:pt x="12065" y="1339215"/>
                    <a:pt x="0" y="1327404"/>
                    <a:pt x="0" y="1312799"/>
                  </a:cubicBezTo>
                  <a:close/>
                </a:path>
              </a:pathLst>
            </a:custGeom>
            <a:solidFill>
              <a:srgbClr val="FFFFFF"/>
            </a:solidFill>
            <a:ln w="12700">
              <a:solidFill>
                <a:srgbClr val="000000"/>
              </a:solidFill>
            </a:ln>
          </p:spPr>
        </p:sp>
        <p:sp>
          <p:nvSpPr>
            <p:cNvPr name="Freeform 28" id="28"/>
            <p:cNvSpPr/>
            <p:nvPr/>
          </p:nvSpPr>
          <p:spPr>
            <a:xfrm flipH="false" flipV="false" rot="0">
              <a:off x="0" y="0"/>
              <a:ext cx="6737096" cy="1359535"/>
            </a:xfrm>
            <a:custGeom>
              <a:avLst/>
              <a:gdLst/>
              <a:ahLst/>
              <a:cxnLst/>
              <a:rect r="r" b="b" t="t" l="l"/>
              <a:pathLst>
                <a:path h="1359535" w="6737096">
                  <a:moveTo>
                    <a:pt x="0" y="36576"/>
                  </a:moveTo>
                  <a:cubicBezTo>
                    <a:pt x="0" y="16256"/>
                    <a:pt x="16637" y="0"/>
                    <a:pt x="36957" y="0"/>
                  </a:cubicBezTo>
                  <a:lnTo>
                    <a:pt x="6700139" y="0"/>
                  </a:lnTo>
                  <a:lnTo>
                    <a:pt x="6700139" y="10160"/>
                  </a:lnTo>
                  <a:lnTo>
                    <a:pt x="6700139" y="0"/>
                  </a:lnTo>
                  <a:cubicBezTo>
                    <a:pt x="6720459" y="0"/>
                    <a:pt x="6737096" y="16256"/>
                    <a:pt x="6737096" y="36576"/>
                  </a:cubicBezTo>
                  <a:lnTo>
                    <a:pt x="6726936" y="36576"/>
                  </a:lnTo>
                  <a:lnTo>
                    <a:pt x="6737096" y="36576"/>
                  </a:lnTo>
                  <a:lnTo>
                    <a:pt x="6737096" y="1322959"/>
                  </a:lnTo>
                  <a:lnTo>
                    <a:pt x="6726936" y="1322959"/>
                  </a:lnTo>
                  <a:lnTo>
                    <a:pt x="6737096" y="1322959"/>
                  </a:lnTo>
                  <a:cubicBezTo>
                    <a:pt x="6737096" y="1343279"/>
                    <a:pt x="6720459" y="1359535"/>
                    <a:pt x="6700139" y="1359535"/>
                  </a:cubicBezTo>
                  <a:lnTo>
                    <a:pt x="6700139" y="1349375"/>
                  </a:lnTo>
                  <a:lnTo>
                    <a:pt x="6700139" y="1359535"/>
                  </a:lnTo>
                  <a:lnTo>
                    <a:pt x="36957" y="1359535"/>
                  </a:lnTo>
                  <a:lnTo>
                    <a:pt x="36957" y="1349375"/>
                  </a:lnTo>
                  <a:lnTo>
                    <a:pt x="36957" y="1359535"/>
                  </a:lnTo>
                  <a:cubicBezTo>
                    <a:pt x="16637" y="1359535"/>
                    <a:pt x="0" y="1343279"/>
                    <a:pt x="0" y="1322959"/>
                  </a:cubicBezTo>
                  <a:lnTo>
                    <a:pt x="0" y="36576"/>
                  </a:lnTo>
                  <a:lnTo>
                    <a:pt x="10160" y="36576"/>
                  </a:lnTo>
                  <a:lnTo>
                    <a:pt x="0" y="36576"/>
                  </a:lnTo>
                  <a:moveTo>
                    <a:pt x="20320" y="36576"/>
                  </a:moveTo>
                  <a:lnTo>
                    <a:pt x="20320" y="1322959"/>
                  </a:lnTo>
                  <a:lnTo>
                    <a:pt x="10160" y="1322959"/>
                  </a:lnTo>
                  <a:lnTo>
                    <a:pt x="20320" y="1322959"/>
                  </a:lnTo>
                  <a:cubicBezTo>
                    <a:pt x="20320" y="1331849"/>
                    <a:pt x="27686" y="1339215"/>
                    <a:pt x="36957" y="1339215"/>
                  </a:cubicBezTo>
                  <a:lnTo>
                    <a:pt x="6700139" y="1339215"/>
                  </a:lnTo>
                  <a:cubicBezTo>
                    <a:pt x="6709410" y="1339215"/>
                    <a:pt x="6716776" y="1331849"/>
                    <a:pt x="6716776" y="1322959"/>
                  </a:cubicBezTo>
                  <a:lnTo>
                    <a:pt x="6716776" y="36576"/>
                  </a:lnTo>
                  <a:cubicBezTo>
                    <a:pt x="6716776" y="27686"/>
                    <a:pt x="6709410" y="20320"/>
                    <a:pt x="6700139" y="20320"/>
                  </a:cubicBezTo>
                  <a:lnTo>
                    <a:pt x="36957" y="20320"/>
                  </a:lnTo>
                  <a:lnTo>
                    <a:pt x="36957" y="10160"/>
                  </a:lnTo>
                  <a:lnTo>
                    <a:pt x="36957" y="20320"/>
                  </a:lnTo>
                  <a:cubicBezTo>
                    <a:pt x="27686" y="20320"/>
                    <a:pt x="20320" y="27686"/>
                    <a:pt x="20320" y="36576"/>
                  </a:cubicBezTo>
                  <a:close/>
                </a:path>
              </a:pathLst>
            </a:custGeom>
            <a:solidFill>
              <a:srgbClr val="D8D4D4"/>
            </a:solidFill>
            <a:ln w="12700">
              <a:solidFill>
                <a:srgbClr val="000000"/>
              </a:solidFill>
            </a:ln>
          </p:spPr>
        </p:sp>
      </p:grpSp>
      <p:grpSp>
        <p:nvGrpSpPr>
          <p:cNvPr name="Group 29" id="29"/>
          <p:cNvGrpSpPr/>
          <p:nvPr/>
        </p:nvGrpSpPr>
        <p:grpSpPr>
          <a:xfrm rot="0">
            <a:off x="4202033" y="5295503"/>
            <a:ext cx="529193" cy="974011"/>
            <a:chOff x="0" y="0"/>
            <a:chExt cx="705591" cy="1298681"/>
          </a:xfrm>
        </p:grpSpPr>
        <p:sp>
          <p:nvSpPr>
            <p:cNvPr name="Freeform 30" id="30"/>
            <p:cNvSpPr/>
            <p:nvPr/>
          </p:nvSpPr>
          <p:spPr>
            <a:xfrm flipH="false" flipV="false" rot="0">
              <a:off x="0" y="0"/>
              <a:ext cx="705485" cy="1298575"/>
            </a:xfrm>
            <a:custGeom>
              <a:avLst/>
              <a:gdLst/>
              <a:ahLst/>
              <a:cxnLst/>
              <a:rect r="r" b="b" t="t" l="l"/>
              <a:pathLst>
                <a:path h="1298575" w="705485">
                  <a:moveTo>
                    <a:pt x="0" y="2032"/>
                  </a:moveTo>
                  <a:cubicBezTo>
                    <a:pt x="0" y="889"/>
                    <a:pt x="889" y="0"/>
                    <a:pt x="2032" y="0"/>
                  </a:cubicBezTo>
                  <a:lnTo>
                    <a:pt x="703453" y="0"/>
                  </a:lnTo>
                  <a:cubicBezTo>
                    <a:pt x="704596" y="0"/>
                    <a:pt x="705485" y="889"/>
                    <a:pt x="705485" y="2032"/>
                  </a:cubicBezTo>
                  <a:lnTo>
                    <a:pt x="705485" y="1296543"/>
                  </a:lnTo>
                  <a:cubicBezTo>
                    <a:pt x="705485" y="1297686"/>
                    <a:pt x="704596" y="1298575"/>
                    <a:pt x="703453" y="1298575"/>
                  </a:cubicBezTo>
                  <a:lnTo>
                    <a:pt x="2032" y="1298575"/>
                  </a:lnTo>
                  <a:cubicBezTo>
                    <a:pt x="889" y="1298575"/>
                    <a:pt x="0" y="1297686"/>
                    <a:pt x="0" y="1296543"/>
                  </a:cubicBezTo>
                  <a:close/>
                </a:path>
              </a:pathLst>
            </a:custGeom>
            <a:solidFill>
              <a:srgbClr val="F9F7F7"/>
            </a:solidFill>
            <a:ln w="12700">
              <a:solidFill>
                <a:srgbClr val="000000"/>
              </a:solidFill>
            </a:ln>
          </p:spPr>
        </p:sp>
      </p:grpSp>
      <p:sp>
        <p:nvSpPr>
          <p:cNvPr name="Freeform 31" id="31" descr="preencoded.png"/>
          <p:cNvSpPr/>
          <p:nvPr/>
        </p:nvSpPr>
        <p:spPr>
          <a:xfrm flipH="false" flipV="false" rot="0">
            <a:off x="4367371" y="5683250"/>
            <a:ext cx="198437" cy="198437"/>
          </a:xfrm>
          <a:custGeom>
            <a:avLst/>
            <a:gdLst/>
            <a:ahLst/>
            <a:cxnLst/>
            <a:rect r="r" b="b" t="t" l="l"/>
            <a:pathLst>
              <a:path h="198437" w="198437">
                <a:moveTo>
                  <a:pt x="0" y="0"/>
                </a:moveTo>
                <a:lnTo>
                  <a:pt x="198438" y="0"/>
                </a:lnTo>
                <a:lnTo>
                  <a:pt x="198438" y="198437"/>
                </a:lnTo>
                <a:lnTo>
                  <a:pt x="0" y="198437"/>
                </a:lnTo>
                <a:lnTo>
                  <a:pt x="0" y="0"/>
                </a:lnTo>
                <a:close/>
              </a:path>
            </a:pathLst>
          </a:custGeom>
          <a:blipFill>
            <a:blip r:embed="rId8">
              <a:extLst>
                <a:ext uri="{96DAC541-7B7A-43D3-8B79-37D633B846F1}">
                  <asvg:svgBlip xmlns:asvg="http://schemas.microsoft.com/office/drawing/2016/SVG/main" r:embed="rId9"/>
                </a:ext>
              </a:extLst>
            </a:blip>
            <a:stretch>
              <a:fillRect l="0" t="-7142" r="0" b="-7142"/>
            </a:stretch>
          </a:blipFill>
        </p:spPr>
      </p:sp>
      <p:sp>
        <p:nvSpPr>
          <p:cNvPr name="TextBox 32" id="32"/>
          <p:cNvSpPr txBox="true"/>
          <p:nvPr/>
        </p:nvSpPr>
        <p:spPr>
          <a:xfrm rot="0">
            <a:off x="4863465" y="5408692"/>
            <a:ext cx="1816894" cy="225822"/>
          </a:xfrm>
          <a:prstGeom prst="rect">
            <a:avLst/>
          </a:prstGeom>
        </p:spPr>
        <p:txBody>
          <a:bodyPr anchor="t" rtlCol="false" tIns="0" lIns="0" bIns="0" rIns="0">
            <a:spAutoFit/>
          </a:bodyPr>
          <a:lstStyle/>
          <a:p>
            <a:pPr algn="l">
              <a:lnSpc>
                <a:spcPts val="1599"/>
              </a:lnSpc>
            </a:pPr>
            <a:r>
              <a:rPr lang="en-US" sz="1300">
                <a:solidFill>
                  <a:srgbClr val="504C49"/>
                </a:solidFill>
                <a:latin typeface="Arimo"/>
                <a:ea typeface="Arimo"/>
                <a:cs typeface="Arimo"/>
                <a:sym typeface="Arimo"/>
              </a:rPr>
              <a:t>Secure Authentication</a:t>
            </a:r>
          </a:p>
        </p:txBody>
      </p:sp>
      <p:sp>
        <p:nvSpPr>
          <p:cNvPr name="TextBox 33" id="33"/>
          <p:cNvSpPr txBox="true"/>
          <p:nvPr/>
        </p:nvSpPr>
        <p:spPr>
          <a:xfrm rot="0">
            <a:off x="4863465" y="5675789"/>
            <a:ext cx="4213463" cy="461486"/>
          </a:xfrm>
          <a:prstGeom prst="rect">
            <a:avLst/>
          </a:prstGeom>
        </p:spPr>
        <p:txBody>
          <a:bodyPr anchor="t" rtlCol="false" tIns="0" lIns="0" bIns="0" rIns="0">
            <a:spAutoFit/>
          </a:bodyPr>
          <a:lstStyle/>
          <a:p>
            <a:pPr algn="l">
              <a:lnSpc>
                <a:spcPts val="1666"/>
              </a:lnSpc>
            </a:pPr>
            <a:r>
              <a:rPr lang="en-US" sz="1033">
                <a:solidFill>
                  <a:srgbClr val="504C49"/>
                </a:solidFill>
                <a:latin typeface="Source Serif Pro"/>
                <a:ea typeface="Source Serif Pro"/>
                <a:cs typeface="Source Serif Pro"/>
                <a:sym typeface="Source Serif Pro"/>
              </a:rPr>
              <a:t>Demonstrates a foundational layer of security for user access and basic banking operations.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grpSp>
        <p:nvGrpSpPr>
          <p:cNvPr name="Group 6" id="6"/>
          <p:cNvGrpSpPr>
            <a:grpSpLocks noChangeAspect="true"/>
          </p:cNvGrpSpPr>
          <p:nvPr/>
        </p:nvGrpSpPr>
        <p:grpSpPr>
          <a:xfrm rot="0">
            <a:off x="0" y="0"/>
            <a:ext cx="9753600" cy="1488519"/>
            <a:chOff x="0" y="0"/>
            <a:chExt cx="13004800" cy="1984692"/>
          </a:xfrm>
        </p:grpSpPr>
        <p:sp>
          <p:nvSpPr>
            <p:cNvPr name="Freeform 7" id="7" descr="preencoded.png"/>
            <p:cNvSpPr/>
            <p:nvPr/>
          </p:nvSpPr>
          <p:spPr>
            <a:xfrm flipH="false" flipV="false" rot="0">
              <a:off x="0" y="0"/>
              <a:ext cx="13004800" cy="1984629"/>
            </a:xfrm>
            <a:custGeom>
              <a:avLst/>
              <a:gdLst/>
              <a:ahLst/>
              <a:cxnLst/>
              <a:rect r="r" b="b" t="t" l="l"/>
              <a:pathLst>
                <a:path h="1984629" w="13004800">
                  <a:moveTo>
                    <a:pt x="0" y="0"/>
                  </a:moveTo>
                  <a:lnTo>
                    <a:pt x="13004800" y="0"/>
                  </a:lnTo>
                  <a:lnTo>
                    <a:pt x="13004800" y="1984629"/>
                  </a:lnTo>
                  <a:lnTo>
                    <a:pt x="0" y="1984629"/>
                  </a:lnTo>
                  <a:lnTo>
                    <a:pt x="0" y="0"/>
                  </a:lnTo>
                  <a:close/>
                </a:path>
              </a:pathLst>
            </a:custGeom>
            <a:blipFill>
              <a:blip r:embed="rId3"/>
              <a:stretch>
                <a:fillRect l="-2" t="0" r="-2" b="-3"/>
              </a:stretch>
            </a:blipFill>
          </p:spPr>
        </p:sp>
      </p:grpSp>
      <p:sp>
        <p:nvSpPr>
          <p:cNvPr name="TextBox 8" id="8"/>
          <p:cNvSpPr txBox="true"/>
          <p:nvPr/>
        </p:nvSpPr>
        <p:spPr>
          <a:xfrm rot="0">
            <a:off x="529193" y="1934210"/>
            <a:ext cx="5790962" cy="400685"/>
          </a:xfrm>
          <a:prstGeom prst="rect">
            <a:avLst/>
          </a:prstGeom>
        </p:spPr>
        <p:txBody>
          <a:bodyPr anchor="t" rtlCol="false" tIns="0" lIns="0" bIns="0" rIns="0">
            <a:spAutoFit/>
          </a:bodyPr>
          <a:lstStyle/>
          <a:p>
            <a:pPr algn="l">
              <a:lnSpc>
                <a:spcPts val="2900"/>
              </a:lnSpc>
            </a:pPr>
            <a:r>
              <a:rPr lang="en-US" sz="2333" b="true">
                <a:solidFill>
                  <a:srgbClr val="201B18"/>
                </a:solidFill>
                <a:latin typeface="Arimo Bold"/>
                <a:ea typeface="Arimo Bold"/>
                <a:cs typeface="Arimo Bold"/>
                <a:sym typeface="Arimo Bold"/>
              </a:rPr>
              <a:t>Objectives: Building a Functional ATM</a:t>
            </a:r>
          </a:p>
        </p:txBody>
      </p:sp>
      <p:sp>
        <p:nvSpPr>
          <p:cNvPr name="TextBox 9" id="9"/>
          <p:cNvSpPr txBox="true"/>
          <p:nvPr/>
        </p:nvSpPr>
        <p:spPr>
          <a:xfrm rot="0">
            <a:off x="529193" y="2465864"/>
            <a:ext cx="8695214" cy="523875"/>
          </a:xfrm>
          <a:prstGeom prst="rect">
            <a:avLst/>
          </a:prstGeom>
        </p:spPr>
        <p:txBody>
          <a:bodyPr anchor="t" rtlCol="false" tIns="0" lIns="0" bIns="0" rIns="0">
            <a:spAutoFit/>
          </a:bodyPr>
          <a:lstStyle/>
          <a:p>
            <a:pPr algn="l">
              <a:lnSpc>
                <a:spcPts val="1866"/>
              </a:lnSpc>
            </a:pPr>
            <a:r>
              <a:rPr lang="en-US" sz="1166">
                <a:solidFill>
                  <a:srgbClr val="504C49"/>
                </a:solidFill>
                <a:latin typeface="Source Serif Pro"/>
                <a:ea typeface="Source Serif Pro"/>
                <a:cs typeface="Source Serif Pro"/>
                <a:sym typeface="Source Serif Pro"/>
              </a:rPr>
              <a:t>Our primary goal was to develop a fully functional ATM prototype, focusing on both user experience and backend data management. This involved several key objectives:</a:t>
            </a:r>
          </a:p>
        </p:txBody>
      </p:sp>
      <p:grpSp>
        <p:nvGrpSpPr>
          <p:cNvPr name="Group 10" id="10"/>
          <p:cNvGrpSpPr/>
          <p:nvPr/>
        </p:nvGrpSpPr>
        <p:grpSpPr>
          <a:xfrm rot="0">
            <a:off x="663099" y="2902744"/>
            <a:ext cx="68421" cy="3717290"/>
            <a:chOff x="0" y="0"/>
            <a:chExt cx="91228" cy="4956387"/>
          </a:xfrm>
        </p:grpSpPr>
        <p:sp>
          <p:nvSpPr>
            <p:cNvPr name="Freeform 11" id="11"/>
            <p:cNvSpPr/>
            <p:nvPr/>
          </p:nvSpPr>
          <p:spPr>
            <a:xfrm flipH="false" flipV="false" rot="0">
              <a:off x="0" y="0"/>
              <a:ext cx="91228" cy="4956429"/>
            </a:xfrm>
            <a:custGeom>
              <a:avLst/>
              <a:gdLst/>
              <a:ahLst/>
              <a:cxnLst/>
              <a:rect r="r" b="b" t="t" l="l"/>
              <a:pathLst>
                <a:path h="4956429" w="91228">
                  <a:moveTo>
                    <a:pt x="0" y="10160"/>
                  </a:moveTo>
                  <a:cubicBezTo>
                    <a:pt x="0" y="4572"/>
                    <a:pt x="20526" y="0"/>
                    <a:pt x="45614" y="0"/>
                  </a:cubicBezTo>
                  <a:cubicBezTo>
                    <a:pt x="70702" y="0"/>
                    <a:pt x="91228" y="4572"/>
                    <a:pt x="91228" y="10160"/>
                  </a:cubicBezTo>
                  <a:lnTo>
                    <a:pt x="91228" y="4946269"/>
                  </a:lnTo>
                  <a:cubicBezTo>
                    <a:pt x="91228" y="4951857"/>
                    <a:pt x="70702" y="4956429"/>
                    <a:pt x="45614" y="4956429"/>
                  </a:cubicBezTo>
                  <a:cubicBezTo>
                    <a:pt x="20526" y="4956429"/>
                    <a:pt x="0" y="4951857"/>
                    <a:pt x="0" y="4946269"/>
                  </a:cubicBezTo>
                  <a:close/>
                </a:path>
              </a:pathLst>
            </a:custGeom>
            <a:solidFill>
              <a:srgbClr val="D8D4D4"/>
            </a:solidFill>
            <a:ln w="12700">
              <a:solidFill>
                <a:srgbClr val="000000"/>
              </a:solidFill>
            </a:ln>
          </p:spPr>
        </p:sp>
      </p:grpSp>
      <p:grpSp>
        <p:nvGrpSpPr>
          <p:cNvPr name="Group 12" id="12"/>
          <p:cNvGrpSpPr/>
          <p:nvPr/>
        </p:nvGrpSpPr>
        <p:grpSpPr>
          <a:xfrm rot="0">
            <a:off x="781804" y="3217545"/>
            <a:ext cx="357187" cy="47625"/>
            <a:chOff x="0" y="0"/>
            <a:chExt cx="476250" cy="63500"/>
          </a:xfrm>
        </p:grpSpPr>
        <p:sp>
          <p:nvSpPr>
            <p:cNvPr name="Freeform 13" id="13"/>
            <p:cNvSpPr/>
            <p:nvPr/>
          </p:nvSpPr>
          <p:spPr>
            <a:xfrm flipH="false" flipV="false" rot="0">
              <a:off x="0" y="0"/>
              <a:ext cx="476250" cy="63500"/>
            </a:xfrm>
            <a:custGeom>
              <a:avLst/>
              <a:gdLst/>
              <a:ahLst/>
              <a:cxnLst/>
              <a:rect r="r" b="b" t="t" l="l"/>
              <a:pathLst>
                <a:path h="63500" w="476250">
                  <a:moveTo>
                    <a:pt x="0" y="31750"/>
                  </a:moveTo>
                  <a:cubicBezTo>
                    <a:pt x="0" y="14288"/>
                    <a:pt x="4572" y="0"/>
                    <a:pt x="10160" y="0"/>
                  </a:cubicBezTo>
                  <a:lnTo>
                    <a:pt x="466090" y="0"/>
                  </a:lnTo>
                  <a:cubicBezTo>
                    <a:pt x="471678" y="0"/>
                    <a:pt x="476250" y="14288"/>
                    <a:pt x="476250" y="31750"/>
                  </a:cubicBezTo>
                  <a:cubicBezTo>
                    <a:pt x="476250" y="49212"/>
                    <a:pt x="471678" y="63500"/>
                    <a:pt x="466090" y="63500"/>
                  </a:cubicBezTo>
                  <a:lnTo>
                    <a:pt x="10160" y="63500"/>
                  </a:lnTo>
                  <a:cubicBezTo>
                    <a:pt x="4572" y="63500"/>
                    <a:pt x="0" y="49212"/>
                    <a:pt x="0" y="31750"/>
                  </a:cubicBezTo>
                  <a:close/>
                </a:path>
              </a:pathLst>
            </a:custGeom>
            <a:solidFill>
              <a:srgbClr val="D8D4D4"/>
            </a:solidFill>
            <a:ln w="12700">
              <a:solidFill>
                <a:srgbClr val="000000"/>
              </a:solidFill>
            </a:ln>
          </p:spPr>
        </p:sp>
      </p:grpSp>
      <p:grpSp>
        <p:nvGrpSpPr>
          <p:cNvPr name="Group 14" id="14"/>
          <p:cNvGrpSpPr/>
          <p:nvPr/>
        </p:nvGrpSpPr>
        <p:grpSpPr>
          <a:xfrm rot="0">
            <a:off x="529153" y="3123645"/>
            <a:ext cx="267891" cy="267891"/>
            <a:chOff x="0" y="0"/>
            <a:chExt cx="357188" cy="357188"/>
          </a:xfrm>
        </p:grpSpPr>
        <p:sp>
          <p:nvSpPr>
            <p:cNvPr name="Freeform 15" id="15"/>
            <p:cNvSpPr/>
            <p:nvPr/>
          </p:nvSpPr>
          <p:spPr>
            <a:xfrm flipH="false" flipV="false" rot="0">
              <a:off x="0" y="0"/>
              <a:ext cx="357251" cy="357251"/>
            </a:xfrm>
            <a:custGeom>
              <a:avLst/>
              <a:gdLst/>
              <a:ahLst/>
              <a:cxnLst/>
              <a:rect r="r" b="b" t="t" l="l"/>
              <a:pathLst>
                <a:path h="357251" w="357251">
                  <a:moveTo>
                    <a:pt x="0" y="23876"/>
                  </a:moveTo>
                  <a:cubicBezTo>
                    <a:pt x="0" y="10668"/>
                    <a:pt x="10668" y="0"/>
                    <a:pt x="23876" y="0"/>
                  </a:cubicBezTo>
                  <a:lnTo>
                    <a:pt x="333375" y="0"/>
                  </a:lnTo>
                  <a:cubicBezTo>
                    <a:pt x="346583" y="0"/>
                    <a:pt x="357251" y="10668"/>
                    <a:pt x="357251" y="23876"/>
                  </a:cubicBezTo>
                  <a:lnTo>
                    <a:pt x="357251" y="333375"/>
                  </a:lnTo>
                  <a:cubicBezTo>
                    <a:pt x="357251" y="346583"/>
                    <a:pt x="346583" y="357251"/>
                    <a:pt x="333375" y="357251"/>
                  </a:cubicBezTo>
                  <a:lnTo>
                    <a:pt x="23876" y="357251"/>
                  </a:lnTo>
                  <a:cubicBezTo>
                    <a:pt x="10668" y="357251"/>
                    <a:pt x="0" y="346583"/>
                    <a:pt x="0" y="333375"/>
                  </a:cubicBezTo>
                  <a:close/>
                </a:path>
              </a:pathLst>
            </a:custGeom>
            <a:solidFill>
              <a:srgbClr val="F9F7F7"/>
            </a:solidFill>
            <a:ln w="12700">
              <a:solidFill>
                <a:srgbClr val="000000"/>
              </a:solidFill>
            </a:ln>
          </p:spPr>
        </p:sp>
      </p:grpSp>
      <p:sp>
        <p:nvSpPr>
          <p:cNvPr name="TextBox 16" id="16"/>
          <p:cNvSpPr txBox="true"/>
          <p:nvPr/>
        </p:nvSpPr>
        <p:spPr>
          <a:xfrm rot="0">
            <a:off x="573762" y="3155434"/>
            <a:ext cx="178594" cy="213757"/>
          </a:xfrm>
          <a:prstGeom prst="rect">
            <a:avLst/>
          </a:prstGeom>
        </p:spPr>
        <p:txBody>
          <a:bodyPr anchor="t" rtlCol="false" tIns="0" lIns="0" bIns="0" rIns="0">
            <a:spAutoFit/>
          </a:bodyPr>
          <a:lstStyle/>
          <a:p>
            <a:pPr algn="ctr">
              <a:lnSpc>
                <a:spcPts val="1399"/>
              </a:lnSpc>
            </a:pPr>
            <a:r>
              <a:rPr lang="en-US" sz="1399">
                <a:solidFill>
                  <a:srgbClr val="504C49"/>
                </a:solidFill>
                <a:latin typeface="Arimo"/>
                <a:ea typeface="Arimo"/>
                <a:cs typeface="Arimo"/>
                <a:sym typeface="Arimo"/>
              </a:rPr>
              <a:t>1</a:t>
            </a:r>
          </a:p>
        </p:txBody>
      </p:sp>
      <p:sp>
        <p:nvSpPr>
          <p:cNvPr name="TextBox 17" id="17"/>
          <p:cNvSpPr txBox="true"/>
          <p:nvPr/>
        </p:nvSpPr>
        <p:spPr>
          <a:xfrm rot="0">
            <a:off x="1258570" y="3145473"/>
            <a:ext cx="1660178" cy="195829"/>
          </a:xfrm>
          <a:prstGeom prst="rect">
            <a:avLst/>
          </a:prstGeom>
        </p:spPr>
        <p:txBody>
          <a:bodyPr anchor="t" rtlCol="false" tIns="0" lIns="0" bIns="0" rIns="0">
            <a:spAutoFit/>
          </a:bodyPr>
          <a:lstStyle/>
          <a:p>
            <a:pPr algn="l">
              <a:lnSpc>
                <a:spcPts val="1433"/>
              </a:lnSpc>
            </a:pPr>
            <a:r>
              <a:rPr lang="en-US" sz="1166" b="true">
                <a:solidFill>
                  <a:srgbClr val="504C49"/>
                </a:solidFill>
                <a:latin typeface="Arimo Bold"/>
                <a:ea typeface="Arimo Bold"/>
                <a:cs typeface="Arimo Bold"/>
                <a:sym typeface="Arimo Bold"/>
              </a:rPr>
              <a:t>User-Friendly Interface</a:t>
            </a:r>
          </a:p>
        </p:txBody>
      </p:sp>
      <p:sp>
        <p:nvSpPr>
          <p:cNvPr name="TextBox 18" id="18"/>
          <p:cNvSpPr txBox="true"/>
          <p:nvPr/>
        </p:nvSpPr>
        <p:spPr>
          <a:xfrm rot="0">
            <a:off x="1258570" y="3383835"/>
            <a:ext cx="7965837" cy="228600"/>
          </a:xfrm>
          <a:prstGeom prst="rect">
            <a:avLst/>
          </a:prstGeom>
        </p:spPr>
        <p:txBody>
          <a:bodyPr anchor="t" rtlCol="false" tIns="0" lIns="0" bIns="0" rIns="0">
            <a:spAutoFit/>
          </a:bodyPr>
          <a:lstStyle/>
          <a:p>
            <a:pPr algn="l">
              <a:lnSpc>
                <a:spcPts val="1500"/>
              </a:lnSpc>
            </a:pPr>
            <a:r>
              <a:rPr lang="en-US" sz="933">
                <a:solidFill>
                  <a:srgbClr val="504C49"/>
                </a:solidFill>
                <a:latin typeface="Source Serif Pro"/>
                <a:ea typeface="Source Serif Pro"/>
                <a:cs typeface="Source Serif Pro"/>
                <a:sym typeface="Source Serif Pro"/>
              </a:rPr>
              <a:t>Designing an intuitive ATM interface using Tkinter to ensure ease of use for all banking operations.</a:t>
            </a:r>
          </a:p>
        </p:txBody>
      </p:sp>
      <p:grpSp>
        <p:nvGrpSpPr>
          <p:cNvPr name="Group 19" id="19"/>
          <p:cNvGrpSpPr/>
          <p:nvPr/>
        </p:nvGrpSpPr>
        <p:grpSpPr>
          <a:xfrm rot="0">
            <a:off x="781804" y="3944461"/>
            <a:ext cx="357187" cy="47625"/>
            <a:chOff x="0" y="0"/>
            <a:chExt cx="476250" cy="63500"/>
          </a:xfrm>
        </p:grpSpPr>
        <p:sp>
          <p:nvSpPr>
            <p:cNvPr name="Freeform 20" id="20"/>
            <p:cNvSpPr/>
            <p:nvPr/>
          </p:nvSpPr>
          <p:spPr>
            <a:xfrm flipH="false" flipV="false" rot="0">
              <a:off x="0" y="0"/>
              <a:ext cx="476250" cy="63500"/>
            </a:xfrm>
            <a:custGeom>
              <a:avLst/>
              <a:gdLst/>
              <a:ahLst/>
              <a:cxnLst/>
              <a:rect r="r" b="b" t="t" l="l"/>
              <a:pathLst>
                <a:path h="63500" w="476250">
                  <a:moveTo>
                    <a:pt x="0" y="31750"/>
                  </a:moveTo>
                  <a:cubicBezTo>
                    <a:pt x="0" y="14288"/>
                    <a:pt x="4572" y="0"/>
                    <a:pt x="10160" y="0"/>
                  </a:cubicBezTo>
                  <a:lnTo>
                    <a:pt x="466090" y="0"/>
                  </a:lnTo>
                  <a:cubicBezTo>
                    <a:pt x="471678" y="0"/>
                    <a:pt x="476250" y="14288"/>
                    <a:pt x="476250" y="31750"/>
                  </a:cubicBezTo>
                  <a:cubicBezTo>
                    <a:pt x="476250" y="49212"/>
                    <a:pt x="471678" y="63500"/>
                    <a:pt x="466090" y="63500"/>
                  </a:cubicBezTo>
                  <a:lnTo>
                    <a:pt x="10160" y="63500"/>
                  </a:lnTo>
                  <a:cubicBezTo>
                    <a:pt x="4572" y="63500"/>
                    <a:pt x="0" y="49212"/>
                    <a:pt x="0" y="31750"/>
                  </a:cubicBezTo>
                  <a:close/>
                </a:path>
              </a:pathLst>
            </a:custGeom>
            <a:solidFill>
              <a:srgbClr val="D8D4D4"/>
            </a:solidFill>
            <a:ln w="12700">
              <a:solidFill>
                <a:srgbClr val="000000"/>
              </a:solidFill>
            </a:ln>
          </p:spPr>
        </p:sp>
      </p:grpSp>
      <p:grpSp>
        <p:nvGrpSpPr>
          <p:cNvPr name="Group 21" id="21"/>
          <p:cNvGrpSpPr/>
          <p:nvPr/>
        </p:nvGrpSpPr>
        <p:grpSpPr>
          <a:xfrm rot="0">
            <a:off x="529153" y="3850561"/>
            <a:ext cx="267891" cy="267891"/>
            <a:chOff x="0" y="0"/>
            <a:chExt cx="357188" cy="357188"/>
          </a:xfrm>
        </p:grpSpPr>
        <p:sp>
          <p:nvSpPr>
            <p:cNvPr name="Freeform 22" id="22"/>
            <p:cNvSpPr/>
            <p:nvPr/>
          </p:nvSpPr>
          <p:spPr>
            <a:xfrm flipH="false" flipV="false" rot="0">
              <a:off x="0" y="0"/>
              <a:ext cx="357251" cy="357251"/>
            </a:xfrm>
            <a:custGeom>
              <a:avLst/>
              <a:gdLst/>
              <a:ahLst/>
              <a:cxnLst/>
              <a:rect r="r" b="b" t="t" l="l"/>
              <a:pathLst>
                <a:path h="357251" w="357251">
                  <a:moveTo>
                    <a:pt x="0" y="23876"/>
                  </a:moveTo>
                  <a:cubicBezTo>
                    <a:pt x="0" y="10668"/>
                    <a:pt x="10668" y="0"/>
                    <a:pt x="23876" y="0"/>
                  </a:cubicBezTo>
                  <a:lnTo>
                    <a:pt x="333375" y="0"/>
                  </a:lnTo>
                  <a:cubicBezTo>
                    <a:pt x="346583" y="0"/>
                    <a:pt x="357251" y="10668"/>
                    <a:pt x="357251" y="23876"/>
                  </a:cubicBezTo>
                  <a:lnTo>
                    <a:pt x="357251" y="333375"/>
                  </a:lnTo>
                  <a:cubicBezTo>
                    <a:pt x="357251" y="346583"/>
                    <a:pt x="346583" y="357251"/>
                    <a:pt x="333375" y="357251"/>
                  </a:cubicBezTo>
                  <a:lnTo>
                    <a:pt x="23876" y="357251"/>
                  </a:lnTo>
                  <a:cubicBezTo>
                    <a:pt x="10668" y="357251"/>
                    <a:pt x="0" y="346583"/>
                    <a:pt x="0" y="333375"/>
                  </a:cubicBezTo>
                  <a:close/>
                </a:path>
              </a:pathLst>
            </a:custGeom>
            <a:solidFill>
              <a:srgbClr val="F9F7F7"/>
            </a:solidFill>
            <a:ln w="12700">
              <a:solidFill>
                <a:srgbClr val="000000"/>
              </a:solidFill>
            </a:ln>
          </p:spPr>
        </p:sp>
      </p:grpSp>
      <p:sp>
        <p:nvSpPr>
          <p:cNvPr name="TextBox 23" id="23"/>
          <p:cNvSpPr txBox="true"/>
          <p:nvPr/>
        </p:nvSpPr>
        <p:spPr>
          <a:xfrm rot="0">
            <a:off x="573762" y="3882350"/>
            <a:ext cx="178594" cy="213757"/>
          </a:xfrm>
          <a:prstGeom prst="rect">
            <a:avLst/>
          </a:prstGeom>
        </p:spPr>
        <p:txBody>
          <a:bodyPr anchor="t" rtlCol="false" tIns="0" lIns="0" bIns="0" rIns="0">
            <a:spAutoFit/>
          </a:bodyPr>
          <a:lstStyle/>
          <a:p>
            <a:pPr algn="ctr">
              <a:lnSpc>
                <a:spcPts val="1399"/>
              </a:lnSpc>
            </a:pPr>
            <a:r>
              <a:rPr lang="en-US" sz="1399">
                <a:solidFill>
                  <a:srgbClr val="504C49"/>
                </a:solidFill>
                <a:latin typeface="Arimo"/>
                <a:ea typeface="Arimo"/>
                <a:cs typeface="Arimo"/>
                <a:sym typeface="Arimo"/>
              </a:rPr>
              <a:t>2</a:t>
            </a:r>
          </a:p>
        </p:txBody>
      </p:sp>
      <p:sp>
        <p:nvSpPr>
          <p:cNvPr name="TextBox 24" id="24"/>
          <p:cNvSpPr txBox="true"/>
          <p:nvPr/>
        </p:nvSpPr>
        <p:spPr>
          <a:xfrm rot="0">
            <a:off x="1258570" y="3872389"/>
            <a:ext cx="1837841" cy="195829"/>
          </a:xfrm>
          <a:prstGeom prst="rect">
            <a:avLst/>
          </a:prstGeom>
        </p:spPr>
        <p:txBody>
          <a:bodyPr anchor="t" rtlCol="false" tIns="0" lIns="0" bIns="0" rIns="0">
            <a:spAutoFit/>
          </a:bodyPr>
          <a:lstStyle/>
          <a:p>
            <a:pPr algn="l">
              <a:lnSpc>
                <a:spcPts val="1433"/>
              </a:lnSpc>
            </a:pPr>
            <a:r>
              <a:rPr lang="en-US" sz="1166" b="true">
                <a:solidFill>
                  <a:srgbClr val="504C49"/>
                </a:solidFill>
                <a:latin typeface="Arimo Bold"/>
                <a:ea typeface="Arimo Bold"/>
                <a:cs typeface="Arimo Bold"/>
                <a:sym typeface="Arimo Bold"/>
              </a:rPr>
              <a:t>Secure Login Mechanism</a:t>
            </a:r>
          </a:p>
        </p:txBody>
      </p:sp>
      <p:sp>
        <p:nvSpPr>
          <p:cNvPr name="TextBox 25" id="25"/>
          <p:cNvSpPr txBox="true"/>
          <p:nvPr/>
        </p:nvSpPr>
        <p:spPr>
          <a:xfrm rot="0">
            <a:off x="1258570" y="4110752"/>
            <a:ext cx="7965837" cy="228600"/>
          </a:xfrm>
          <a:prstGeom prst="rect">
            <a:avLst/>
          </a:prstGeom>
        </p:spPr>
        <p:txBody>
          <a:bodyPr anchor="t" rtlCol="false" tIns="0" lIns="0" bIns="0" rIns="0">
            <a:spAutoFit/>
          </a:bodyPr>
          <a:lstStyle/>
          <a:p>
            <a:pPr algn="l">
              <a:lnSpc>
                <a:spcPts val="1500"/>
              </a:lnSpc>
            </a:pPr>
            <a:r>
              <a:rPr lang="en-US" sz="933">
                <a:solidFill>
                  <a:srgbClr val="504C49"/>
                </a:solidFill>
                <a:latin typeface="Source Serif Pro"/>
                <a:ea typeface="Source Serif Pro"/>
                <a:cs typeface="Source Serif Pro"/>
                <a:sym typeface="Source Serif Pro"/>
              </a:rPr>
              <a:t>Implementing a secure login process requiring a valid card number and PIN for account access.</a:t>
            </a:r>
          </a:p>
        </p:txBody>
      </p:sp>
      <p:grpSp>
        <p:nvGrpSpPr>
          <p:cNvPr name="Group 26" id="26"/>
          <p:cNvGrpSpPr/>
          <p:nvPr/>
        </p:nvGrpSpPr>
        <p:grpSpPr>
          <a:xfrm rot="0">
            <a:off x="781804" y="4703763"/>
            <a:ext cx="357187" cy="49074"/>
            <a:chOff x="0" y="0"/>
            <a:chExt cx="476250" cy="65431"/>
          </a:xfrm>
        </p:grpSpPr>
        <p:sp>
          <p:nvSpPr>
            <p:cNvPr name="Freeform 27" id="27"/>
            <p:cNvSpPr/>
            <p:nvPr/>
          </p:nvSpPr>
          <p:spPr>
            <a:xfrm flipH="false" flipV="false" rot="0">
              <a:off x="0" y="0"/>
              <a:ext cx="476250" cy="65431"/>
            </a:xfrm>
            <a:custGeom>
              <a:avLst/>
              <a:gdLst/>
              <a:ahLst/>
              <a:cxnLst/>
              <a:rect r="r" b="b" t="t" l="l"/>
              <a:pathLst>
                <a:path h="65431" w="476250">
                  <a:moveTo>
                    <a:pt x="0" y="32716"/>
                  </a:moveTo>
                  <a:cubicBezTo>
                    <a:pt x="0" y="14722"/>
                    <a:pt x="4572" y="0"/>
                    <a:pt x="10160" y="0"/>
                  </a:cubicBezTo>
                  <a:lnTo>
                    <a:pt x="466090" y="0"/>
                  </a:lnTo>
                  <a:cubicBezTo>
                    <a:pt x="471678" y="0"/>
                    <a:pt x="476250" y="14722"/>
                    <a:pt x="476250" y="32716"/>
                  </a:cubicBezTo>
                  <a:cubicBezTo>
                    <a:pt x="476250" y="50709"/>
                    <a:pt x="471678" y="65431"/>
                    <a:pt x="466090" y="65431"/>
                  </a:cubicBezTo>
                  <a:lnTo>
                    <a:pt x="10160" y="65431"/>
                  </a:lnTo>
                  <a:cubicBezTo>
                    <a:pt x="4572" y="65431"/>
                    <a:pt x="0" y="50709"/>
                    <a:pt x="0" y="32716"/>
                  </a:cubicBezTo>
                  <a:close/>
                </a:path>
              </a:pathLst>
            </a:custGeom>
            <a:solidFill>
              <a:srgbClr val="D8D4D4"/>
            </a:solidFill>
            <a:ln w="12700">
              <a:solidFill>
                <a:srgbClr val="000000"/>
              </a:solidFill>
            </a:ln>
          </p:spPr>
        </p:sp>
      </p:grpSp>
      <p:grpSp>
        <p:nvGrpSpPr>
          <p:cNvPr name="Group 28" id="28"/>
          <p:cNvGrpSpPr/>
          <p:nvPr/>
        </p:nvGrpSpPr>
        <p:grpSpPr>
          <a:xfrm rot="0">
            <a:off x="529153" y="4577477"/>
            <a:ext cx="267891" cy="267891"/>
            <a:chOff x="0" y="0"/>
            <a:chExt cx="357188" cy="357188"/>
          </a:xfrm>
        </p:grpSpPr>
        <p:sp>
          <p:nvSpPr>
            <p:cNvPr name="Freeform 29" id="29"/>
            <p:cNvSpPr/>
            <p:nvPr/>
          </p:nvSpPr>
          <p:spPr>
            <a:xfrm flipH="false" flipV="false" rot="0">
              <a:off x="0" y="0"/>
              <a:ext cx="357251" cy="357251"/>
            </a:xfrm>
            <a:custGeom>
              <a:avLst/>
              <a:gdLst/>
              <a:ahLst/>
              <a:cxnLst/>
              <a:rect r="r" b="b" t="t" l="l"/>
              <a:pathLst>
                <a:path h="357251" w="357251">
                  <a:moveTo>
                    <a:pt x="0" y="23876"/>
                  </a:moveTo>
                  <a:cubicBezTo>
                    <a:pt x="0" y="10668"/>
                    <a:pt x="10668" y="0"/>
                    <a:pt x="23876" y="0"/>
                  </a:cubicBezTo>
                  <a:lnTo>
                    <a:pt x="333375" y="0"/>
                  </a:lnTo>
                  <a:cubicBezTo>
                    <a:pt x="346583" y="0"/>
                    <a:pt x="357251" y="10668"/>
                    <a:pt x="357251" y="23876"/>
                  </a:cubicBezTo>
                  <a:lnTo>
                    <a:pt x="357251" y="333375"/>
                  </a:lnTo>
                  <a:cubicBezTo>
                    <a:pt x="357251" y="346583"/>
                    <a:pt x="346583" y="357251"/>
                    <a:pt x="333375" y="357251"/>
                  </a:cubicBezTo>
                  <a:lnTo>
                    <a:pt x="23876" y="357251"/>
                  </a:lnTo>
                  <a:cubicBezTo>
                    <a:pt x="10668" y="357251"/>
                    <a:pt x="0" y="346583"/>
                    <a:pt x="0" y="333375"/>
                  </a:cubicBezTo>
                  <a:close/>
                </a:path>
              </a:pathLst>
            </a:custGeom>
            <a:solidFill>
              <a:srgbClr val="F9F7F7"/>
            </a:solidFill>
            <a:ln w="12700">
              <a:solidFill>
                <a:srgbClr val="000000"/>
              </a:solidFill>
            </a:ln>
          </p:spPr>
        </p:sp>
      </p:grpSp>
      <p:sp>
        <p:nvSpPr>
          <p:cNvPr name="TextBox 30" id="30"/>
          <p:cNvSpPr txBox="true"/>
          <p:nvPr/>
        </p:nvSpPr>
        <p:spPr>
          <a:xfrm rot="0">
            <a:off x="573762" y="4609266"/>
            <a:ext cx="178594" cy="213757"/>
          </a:xfrm>
          <a:prstGeom prst="rect">
            <a:avLst/>
          </a:prstGeom>
        </p:spPr>
        <p:txBody>
          <a:bodyPr anchor="t" rtlCol="false" tIns="0" lIns="0" bIns="0" rIns="0">
            <a:spAutoFit/>
          </a:bodyPr>
          <a:lstStyle/>
          <a:p>
            <a:pPr algn="ctr">
              <a:lnSpc>
                <a:spcPts val="1399"/>
              </a:lnSpc>
            </a:pPr>
            <a:r>
              <a:rPr lang="en-US" sz="1399">
                <a:solidFill>
                  <a:srgbClr val="504C49"/>
                </a:solidFill>
                <a:latin typeface="Arimo"/>
                <a:ea typeface="Arimo"/>
                <a:cs typeface="Arimo"/>
                <a:sym typeface="Arimo"/>
              </a:rPr>
              <a:t>3</a:t>
            </a:r>
          </a:p>
        </p:txBody>
      </p:sp>
      <p:sp>
        <p:nvSpPr>
          <p:cNvPr name="TextBox 31" id="31"/>
          <p:cNvSpPr txBox="true"/>
          <p:nvPr/>
        </p:nvSpPr>
        <p:spPr>
          <a:xfrm rot="0">
            <a:off x="1258570" y="4599305"/>
            <a:ext cx="2159682" cy="195829"/>
          </a:xfrm>
          <a:prstGeom prst="rect">
            <a:avLst/>
          </a:prstGeom>
        </p:spPr>
        <p:txBody>
          <a:bodyPr anchor="t" rtlCol="false" tIns="0" lIns="0" bIns="0" rIns="0">
            <a:spAutoFit/>
          </a:bodyPr>
          <a:lstStyle/>
          <a:p>
            <a:pPr algn="l">
              <a:lnSpc>
                <a:spcPts val="1433"/>
              </a:lnSpc>
            </a:pPr>
            <a:r>
              <a:rPr lang="en-US" sz="1166" b="true">
                <a:solidFill>
                  <a:srgbClr val="504C49"/>
                </a:solidFill>
                <a:latin typeface="Arimo Bold"/>
                <a:ea typeface="Arimo Bold"/>
                <a:cs typeface="Arimo Bold"/>
                <a:sym typeface="Arimo Bold"/>
              </a:rPr>
              <a:t>Essential Banking Operations</a:t>
            </a:r>
          </a:p>
        </p:txBody>
      </p:sp>
      <p:grpSp>
        <p:nvGrpSpPr>
          <p:cNvPr name="Group 32" id="32"/>
          <p:cNvGrpSpPr/>
          <p:nvPr/>
        </p:nvGrpSpPr>
        <p:grpSpPr>
          <a:xfrm rot="0">
            <a:off x="1258570" y="4875768"/>
            <a:ext cx="7965837" cy="996950"/>
            <a:chOff x="0" y="0"/>
            <a:chExt cx="10621116" cy="1329267"/>
          </a:xfrm>
        </p:grpSpPr>
        <p:sp>
          <p:nvSpPr>
            <p:cNvPr name="TextBox 33" id="33"/>
            <p:cNvSpPr txBox="true"/>
            <p:nvPr/>
          </p:nvSpPr>
          <p:spPr>
            <a:xfrm rot="0">
              <a:off x="0" y="-38100"/>
              <a:ext cx="10621116" cy="227753"/>
            </a:xfrm>
            <a:prstGeom prst="rect">
              <a:avLst/>
            </a:prstGeom>
          </p:spPr>
          <p:txBody>
            <a:bodyPr anchor="t" rtlCol="false" tIns="0" lIns="0" bIns="0" rIns="0">
              <a:spAutoFit/>
            </a:bodyPr>
            <a:lstStyle/>
            <a:p>
              <a:pPr algn="l" marL="201507" indent="-100753" lvl="1">
                <a:lnSpc>
                  <a:spcPts val="1500"/>
                </a:lnSpc>
                <a:buFont typeface="Arial"/>
                <a:buChar char="•"/>
              </a:pPr>
              <a:r>
                <a:rPr lang="en-US" sz="933">
                  <a:solidFill>
                    <a:srgbClr val="504C49"/>
                  </a:solidFill>
                  <a:latin typeface="Source Serif Pro"/>
                  <a:ea typeface="Source Serif Pro"/>
                  <a:cs typeface="Source Serif Pro"/>
                  <a:sym typeface="Source Serif Pro"/>
                </a:rPr>
                <a:t>Enabling users to perform core functions: </a:t>
              </a:r>
            </a:p>
          </p:txBody>
        </p:sp>
        <p:sp>
          <p:nvSpPr>
            <p:cNvPr name="TextBox 34" id="34"/>
            <p:cNvSpPr txBox="true"/>
            <p:nvPr/>
          </p:nvSpPr>
          <p:spPr>
            <a:xfrm rot="0">
              <a:off x="0" y="246803"/>
              <a:ext cx="10621116" cy="227753"/>
            </a:xfrm>
            <a:prstGeom prst="rect">
              <a:avLst/>
            </a:prstGeom>
          </p:spPr>
          <p:txBody>
            <a:bodyPr anchor="t" rtlCol="false" tIns="0" lIns="0" bIns="0" rIns="0">
              <a:spAutoFit/>
            </a:bodyPr>
            <a:lstStyle/>
            <a:p>
              <a:pPr algn="l" marL="201507" indent="-100753" lvl="1">
                <a:lnSpc>
                  <a:spcPts val="1500"/>
                </a:lnSpc>
                <a:buFont typeface="Arial"/>
                <a:buChar char="•"/>
              </a:pPr>
              <a:r>
                <a:rPr lang="en-US" sz="933">
                  <a:solidFill>
                    <a:srgbClr val="504C49"/>
                  </a:solidFill>
                  <a:latin typeface="Source Serif Pro"/>
                  <a:ea typeface="Source Serif Pro"/>
                  <a:cs typeface="Source Serif Pro"/>
                  <a:sym typeface="Source Serif Pro"/>
                </a:rPr>
                <a:t>checking balances, </a:t>
              </a:r>
            </a:p>
          </p:txBody>
        </p:sp>
        <p:sp>
          <p:nvSpPr>
            <p:cNvPr name="TextBox 35" id="35"/>
            <p:cNvSpPr txBox="true"/>
            <p:nvPr/>
          </p:nvSpPr>
          <p:spPr>
            <a:xfrm rot="0">
              <a:off x="0" y="531707"/>
              <a:ext cx="10621116" cy="227753"/>
            </a:xfrm>
            <a:prstGeom prst="rect">
              <a:avLst/>
            </a:prstGeom>
          </p:spPr>
          <p:txBody>
            <a:bodyPr anchor="t" rtlCol="false" tIns="0" lIns="0" bIns="0" rIns="0">
              <a:spAutoFit/>
            </a:bodyPr>
            <a:lstStyle/>
            <a:p>
              <a:pPr algn="l" marL="201507" indent="-100753" lvl="1">
                <a:lnSpc>
                  <a:spcPts val="1500"/>
                </a:lnSpc>
                <a:buFont typeface="Arial"/>
                <a:buChar char="•"/>
              </a:pPr>
              <a:r>
                <a:rPr lang="en-US" sz="933">
                  <a:solidFill>
                    <a:srgbClr val="504C49"/>
                  </a:solidFill>
                  <a:latin typeface="Source Serif Pro"/>
                  <a:ea typeface="Source Serif Pro"/>
                  <a:cs typeface="Source Serif Pro"/>
                  <a:sym typeface="Source Serif Pro"/>
                </a:rPr>
                <a:t>withdrawing, </a:t>
              </a:r>
            </a:p>
          </p:txBody>
        </p:sp>
        <p:sp>
          <p:nvSpPr>
            <p:cNvPr name="TextBox 36" id="36"/>
            <p:cNvSpPr txBox="true"/>
            <p:nvPr/>
          </p:nvSpPr>
          <p:spPr>
            <a:xfrm rot="0">
              <a:off x="0" y="816610"/>
              <a:ext cx="10621116" cy="227753"/>
            </a:xfrm>
            <a:prstGeom prst="rect">
              <a:avLst/>
            </a:prstGeom>
          </p:spPr>
          <p:txBody>
            <a:bodyPr anchor="t" rtlCol="false" tIns="0" lIns="0" bIns="0" rIns="0">
              <a:spAutoFit/>
            </a:bodyPr>
            <a:lstStyle/>
            <a:p>
              <a:pPr algn="l" marL="201507" indent="-100753" lvl="1">
                <a:lnSpc>
                  <a:spcPts val="1500"/>
                </a:lnSpc>
                <a:buFont typeface="Arial"/>
                <a:buChar char="•"/>
              </a:pPr>
              <a:r>
                <a:rPr lang="en-US" sz="933">
                  <a:solidFill>
                    <a:srgbClr val="504C49"/>
                  </a:solidFill>
                  <a:latin typeface="Source Serif Pro"/>
                  <a:ea typeface="Source Serif Pro"/>
                  <a:cs typeface="Source Serif Pro"/>
                  <a:sym typeface="Source Serif Pro"/>
                </a:rPr>
                <a:t>depositing cash, and </a:t>
              </a:r>
            </a:p>
          </p:txBody>
        </p:sp>
        <p:sp>
          <p:nvSpPr>
            <p:cNvPr name="TextBox 37" id="37"/>
            <p:cNvSpPr txBox="true"/>
            <p:nvPr/>
          </p:nvSpPr>
          <p:spPr>
            <a:xfrm rot="0">
              <a:off x="0" y="1101513"/>
              <a:ext cx="10621116" cy="227753"/>
            </a:xfrm>
            <a:prstGeom prst="rect">
              <a:avLst/>
            </a:prstGeom>
          </p:spPr>
          <p:txBody>
            <a:bodyPr anchor="t" rtlCol="false" tIns="0" lIns="0" bIns="0" rIns="0">
              <a:spAutoFit/>
            </a:bodyPr>
            <a:lstStyle/>
            <a:p>
              <a:pPr algn="l" marL="201507" indent="-100753" lvl="1">
                <a:lnSpc>
                  <a:spcPts val="1500"/>
                </a:lnSpc>
                <a:buFont typeface="Arial"/>
                <a:buChar char="•"/>
              </a:pPr>
              <a:r>
                <a:rPr lang="en-US" sz="933">
                  <a:solidFill>
                    <a:srgbClr val="504C49"/>
                  </a:solidFill>
                  <a:latin typeface="Source Serif Pro"/>
                  <a:ea typeface="Source Serif Pro"/>
                  <a:cs typeface="Source Serif Pro"/>
                  <a:sym typeface="Source Serif Pro"/>
                </a:rPr>
                <a:t>viewing transaction history.</a:t>
              </a:r>
            </a:p>
          </p:txBody>
        </p:sp>
      </p:grpSp>
      <p:grpSp>
        <p:nvGrpSpPr>
          <p:cNvPr name="Group 38" id="38"/>
          <p:cNvGrpSpPr/>
          <p:nvPr/>
        </p:nvGrpSpPr>
        <p:grpSpPr>
          <a:xfrm rot="0">
            <a:off x="781804" y="6240502"/>
            <a:ext cx="357187" cy="47625"/>
            <a:chOff x="0" y="0"/>
            <a:chExt cx="476250" cy="63500"/>
          </a:xfrm>
        </p:grpSpPr>
        <p:sp>
          <p:nvSpPr>
            <p:cNvPr name="Freeform 39" id="39"/>
            <p:cNvSpPr/>
            <p:nvPr/>
          </p:nvSpPr>
          <p:spPr>
            <a:xfrm flipH="false" flipV="false" rot="0">
              <a:off x="0" y="0"/>
              <a:ext cx="476250" cy="63500"/>
            </a:xfrm>
            <a:custGeom>
              <a:avLst/>
              <a:gdLst/>
              <a:ahLst/>
              <a:cxnLst/>
              <a:rect r="r" b="b" t="t" l="l"/>
              <a:pathLst>
                <a:path h="63500" w="476250">
                  <a:moveTo>
                    <a:pt x="0" y="31750"/>
                  </a:moveTo>
                  <a:cubicBezTo>
                    <a:pt x="0" y="14288"/>
                    <a:pt x="4572" y="0"/>
                    <a:pt x="10160" y="0"/>
                  </a:cubicBezTo>
                  <a:lnTo>
                    <a:pt x="466090" y="0"/>
                  </a:lnTo>
                  <a:cubicBezTo>
                    <a:pt x="471678" y="0"/>
                    <a:pt x="476250" y="14288"/>
                    <a:pt x="476250" y="31750"/>
                  </a:cubicBezTo>
                  <a:cubicBezTo>
                    <a:pt x="476250" y="49212"/>
                    <a:pt x="471678" y="63500"/>
                    <a:pt x="466090" y="63500"/>
                  </a:cubicBezTo>
                  <a:lnTo>
                    <a:pt x="10160" y="63500"/>
                  </a:lnTo>
                  <a:cubicBezTo>
                    <a:pt x="4572" y="63500"/>
                    <a:pt x="0" y="49212"/>
                    <a:pt x="0" y="31750"/>
                  </a:cubicBezTo>
                  <a:close/>
                </a:path>
              </a:pathLst>
            </a:custGeom>
            <a:solidFill>
              <a:srgbClr val="D8D4D4"/>
            </a:solidFill>
            <a:ln w="12700">
              <a:solidFill>
                <a:srgbClr val="000000"/>
              </a:solidFill>
            </a:ln>
          </p:spPr>
        </p:sp>
      </p:grpSp>
      <p:grpSp>
        <p:nvGrpSpPr>
          <p:cNvPr name="Group 40" id="40"/>
          <p:cNvGrpSpPr/>
          <p:nvPr/>
        </p:nvGrpSpPr>
        <p:grpSpPr>
          <a:xfrm rot="0">
            <a:off x="529153" y="6106557"/>
            <a:ext cx="267891" cy="267891"/>
            <a:chOff x="0" y="0"/>
            <a:chExt cx="357188" cy="357188"/>
          </a:xfrm>
        </p:grpSpPr>
        <p:sp>
          <p:nvSpPr>
            <p:cNvPr name="Freeform 41" id="41"/>
            <p:cNvSpPr/>
            <p:nvPr/>
          </p:nvSpPr>
          <p:spPr>
            <a:xfrm flipH="false" flipV="false" rot="0">
              <a:off x="0" y="0"/>
              <a:ext cx="357251" cy="357251"/>
            </a:xfrm>
            <a:custGeom>
              <a:avLst/>
              <a:gdLst/>
              <a:ahLst/>
              <a:cxnLst/>
              <a:rect r="r" b="b" t="t" l="l"/>
              <a:pathLst>
                <a:path h="357251" w="357251">
                  <a:moveTo>
                    <a:pt x="0" y="23876"/>
                  </a:moveTo>
                  <a:cubicBezTo>
                    <a:pt x="0" y="10668"/>
                    <a:pt x="10668" y="0"/>
                    <a:pt x="23876" y="0"/>
                  </a:cubicBezTo>
                  <a:lnTo>
                    <a:pt x="333375" y="0"/>
                  </a:lnTo>
                  <a:cubicBezTo>
                    <a:pt x="346583" y="0"/>
                    <a:pt x="357251" y="10668"/>
                    <a:pt x="357251" y="23876"/>
                  </a:cubicBezTo>
                  <a:lnTo>
                    <a:pt x="357251" y="333375"/>
                  </a:lnTo>
                  <a:cubicBezTo>
                    <a:pt x="357251" y="346583"/>
                    <a:pt x="346583" y="357251"/>
                    <a:pt x="333375" y="357251"/>
                  </a:cubicBezTo>
                  <a:lnTo>
                    <a:pt x="23876" y="357251"/>
                  </a:lnTo>
                  <a:cubicBezTo>
                    <a:pt x="10668" y="357251"/>
                    <a:pt x="0" y="346583"/>
                    <a:pt x="0" y="333375"/>
                  </a:cubicBezTo>
                  <a:close/>
                </a:path>
              </a:pathLst>
            </a:custGeom>
            <a:solidFill>
              <a:srgbClr val="F9F7F7"/>
            </a:solidFill>
            <a:ln w="12700">
              <a:solidFill>
                <a:srgbClr val="000000"/>
              </a:solidFill>
            </a:ln>
          </p:spPr>
        </p:sp>
      </p:grpSp>
      <p:sp>
        <p:nvSpPr>
          <p:cNvPr name="TextBox 42" id="42"/>
          <p:cNvSpPr txBox="true"/>
          <p:nvPr/>
        </p:nvSpPr>
        <p:spPr>
          <a:xfrm rot="0">
            <a:off x="573762" y="6138386"/>
            <a:ext cx="178594" cy="213757"/>
          </a:xfrm>
          <a:prstGeom prst="rect">
            <a:avLst/>
          </a:prstGeom>
        </p:spPr>
        <p:txBody>
          <a:bodyPr anchor="t" rtlCol="false" tIns="0" lIns="0" bIns="0" rIns="0">
            <a:spAutoFit/>
          </a:bodyPr>
          <a:lstStyle/>
          <a:p>
            <a:pPr algn="ctr">
              <a:lnSpc>
                <a:spcPts val="1399"/>
              </a:lnSpc>
            </a:pPr>
            <a:r>
              <a:rPr lang="en-US" sz="1399">
                <a:solidFill>
                  <a:srgbClr val="504C49"/>
                </a:solidFill>
                <a:latin typeface="Arimo"/>
                <a:ea typeface="Arimo"/>
                <a:cs typeface="Arimo"/>
                <a:sym typeface="Arimo"/>
              </a:rPr>
              <a:t>4</a:t>
            </a:r>
          </a:p>
        </p:txBody>
      </p:sp>
      <p:grpSp>
        <p:nvGrpSpPr>
          <p:cNvPr name="Group 43" id="43"/>
          <p:cNvGrpSpPr/>
          <p:nvPr/>
        </p:nvGrpSpPr>
        <p:grpSpPr>
          <a:xfrm rot="0">
            <a:off x="1243766" y="6135767"/>
            <a:ext cx="7965837" cy="447913"/>
            <a:chOff x="0" y="0"/>
            <a:chExt cx="10621116" cy="597218"/>
          </a:xfrm>
        </p:grpSpPr>
        <p:sp>
          <p:nvSpPr>
            <p:cNvPr name="TextBox 44" id="44"/>
            <p:cNvSpPr txBox="true"/>
            <p:nvPr/>
          </p:nvSpPr>
          <p:spPr>
            <a:xfrm rot="0">
              <a:off x="0" y="-19050"/>
              <a:ext cx="2460873" cy="254755"/>
            </a:xfrm>
            <a:prstGeom prst="rect">
              <a:avLst/>
            </a:prstGeom>
          </p:spPr>
          <p:txBody>
            <a:bodyPr anchor="t" rtlCol="false" tIns="0" lIns="0" bIns="0" rIns="0">
              <a:spAutoFit/>
            </a:bodyPr>
            <a:lstStyle/>
            <a:p>
              <a:pPr algn="l">
                <a:lnSpc>
                  <a:spcPts val="1433"/>
                </a:lnSpc>
              </a:pPr>
              <a:r>
                <a:rPr lang="en-US" sz="1166" b="true">
                  <a:solidFill>
                    <a:srgbClr val="504C49"/>
                  </a:solidFill>
                  <a:latin typeface="Arimo Bold"/>
                  <a:ea typeface="Arimo Bold"/>
                  <a:cs typeface="Arimo Bold"/>
                  <a:sym typeface="Arimo Bold"/>
                </a:rPr>
                <a:t>Accountability &amp; Logging</a:t>
              </a:r>
            </a:p>
          </p:txBody>
        </p:sp>
        <p:sp>
          <p:nvSpPr>
            <p:cNvPr name="TextBox 45" id="45"/>
            <p:cNvSpPr txBox="true"/>
            <p:nvPr/>
          </p:nvSpPr>
          <p:spPr>
            <a:xfrm rot="0">
              <a:off x="0" y="305118"/>
              <a:ext cx="10621116" cy="292100"/>
            </a:xfrm>
            <a:prstGeom prst="rect">
              <a:avLst/>
            </a:prstGeom>
          </p:spPr>
          <p:txBody>
            <a:bodyPr anchor="t" rtlCol="false" tIns="0" lIns="0" bIns="0" rIns="0">
              <a:spAutoFit/>
            </a:bodyPr>
            <a:lstStyle/>
            <a:p>
              <a:pPr algn="l">
                <a:lnSpc>
                  <a:spcPts val="1500"/>
                </a:lnSpc>
              </a:pPr>
              <a:r>
                <a:rPr lang="en-US" sz="933">
                  <a:solidFill>
                    <a:srgbClr val="504C49"/>
                  </a:solidFill>
                  <a:latin typeface="Source Serif Pro"/>
                  <a:ea typeface="Source Serif Pro"/>
                  <a:cs typeface="Source Serif Pro"/>
                  <a:sym typeface="Source Serif Pro"/>
                </a:rPr>
                <a:t>Maintaining comprehensive transaction logs and login/logout records to ensure transparency and accountability.</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sp>
        <p:nvSpPr>
          <p:cNvPr name="TextBox 6" id="6"/>
          <p:cNvSpPr txBox="true"/>
          <p:nvPr/>
        </p:nvSpPr>
        <p:spPr>
          <a:xfrm rot="0">
            <a:off x="521255" y="534194"/>
            <a:ext cx="8568293" cy="405845"/>
          </a:xfrm>
          <a:prstGeom prst="rect">
            <a:avLst/>
          </a:prstGeom>
        </p:spPr>
        <p:txBody>
          <a:bodyPr anchor="t" rtlCol="false" tIns="0" lIns="0" bIns="0" rIns="0">
            <a:spAutoFit/>
          </a:bodyPr>
          <a:lstStyle/>
          <a:p>
            <a:pPr algn="l">
              <a:lnSpc>
                <a:spcPts val="3033"/>
              </a:lnSpc>
            </a:pPr>
            <a:r>
              <a:rPr lang="en-US" sz="2433" b="true">
                <a:solidFill>
                  <a:srgbClr val="201B18"/>
                </a:solidFill>
                <a:latin typeface="Arimo Bold"/>
                <a:ea typeface="Arimo Bold"/>
                <a:cs typeface="Arimo Bold"/>
                <a:sym typeface="Arimo Bold"/>
              </a:rPr>
              <a:t>Project Methodology: From Design to Implementation</a:t>
            </a:r>
          </a:p>
        </p:txBody>
      </p:sp>
      <p:sp>
        <p:nvSpPr>
          <p:cNvPr name="TextBox 7" id="7"/>
          <p:cNvSpPr txBox="true"/>
          <p:nvPr/>
        </p:nvSpPr>
        <p:spPr>
          <a:xfrm rot="0">
            <a:off x="521255" y="1149509"/>
            <a:ext cx="8711089" cy="533400"/>
          </a:xfrm>
          <a:prstGeom prst="rect">
            <a:avLst/>
          </a:prstGeom>
        </p:spPr>
        <p:txBody>
          <a:bodyPr anchor="t" rtlCol="false" tIns="0" lIns="0" bIns="0" rIns="0">
            <a:spAutoFit/>
          </a:bodyPr>
          <a:lstStyle/>
          <a:p>
            <a:pPr algn="l">
              <a:lnSpc>
                <a:spcPts val="1933"/>
              </a:lnSpc>
            </a:pPr>
            <a:r>
              <a:rPr lang="en-US" sz="1200">
                <a:solidFill>
                  <a:srgbClr val="504C49"/>
                </a:solidFill>
                <a:latin typeface="Source Serif Pro"/>
                <a:ea typeface="Source Serif Pro"/>
                <a:cs typeface="Source Serif Pro"/>
                <a:sym typeface="Source Serif Pro"/>
              </a:rPr>
              <a:t>The project followed a structured approach, breaking down the development into distinct, manageable steps. This ensured a systematic progression from conceptual design to functional testing.</a:t>
            </a:r>
          </a:p>
        </p:txBody>
      </p:sp>
      <p:grpSp>
        <p:nvGrpSpPr>
          <p:cNvPr name="Group 8" id="8"/>
          <p:cNvGrpSpPr/>
          <p:nvPr/>
        </p:nvGrpSpPr>
        <p:grpSpPr>
          <a:xfrm rot="0">
            <a:off x="4869180" y="1822133"/>
            <a:ext cx="15240" cy="4939824"/>
            <a:chOff x="0" y="0"/>
            <a:chExt cx="20320" cy="6586432"/>
          </a:xfrm>
        </p:grpSpPr>
        <p:sp>
          <p:nvSpPr>
            <p:cNvPr name="Freeform 9" id="9"/>
            <p:cNvSpPr/>
            <p:nvPr/>
          </p:nvSpPr>
          <p:spPr>
            <a:xfrm flipH="false" flipV="false" rot="0">
              <a:off x="0" y="0"/>
              <a:ext cx="20320" cy="6586474"/>
            </a:xfrm>
            <a:custGeom>
              <a:avLst/>
              <a:gdLst/>
              <a:ahLst/>
              <a:cxnLst/>
              <a:rect r="r" b="b" t="t" l="l"/>
              <a:pathLst>
                <a:path h="6586474" w="20320">
                  <a:moveTo>
                    <a:pt x="0" y="10160"/>
                  </a:moveTo>
                  <a:cubicBezTo>
                    <a:pt x="0" y="4572"/>
                    <a:pt x="4572" y="0"/>
                    <a:pt x="10160" y="0"/>
                  </a:cubicBezTo>
                  <a:cubicBezTo>
                    <a:pt x="15748" y="0"/>
                    <a:pt x="20320" y="4572"/>
                    <a:pt x="20320" y="10160"/>
                  </a:cubicBezTo>
                  <a:lnTo>
                    <a:pt x="20320" y="6576314"/>
                  </a:lnTo>
                  <a:cubicBezTo>
                    <a:pt x="20320" y="6581902"/>
                    <a:pt x="15748" y="6586474"/>
                    <a:pt x="10160" y="6586474"/>
                  </a:cubicBezTo>
                  <a:cubicBezTo>
                    <a:pt x="4572" y="6586474"/>
                    <a:pt x="0" y="6581902"/>
                    <a:pt x="0" y="6576314"/>
                  </a:cubicBezTo>
                  <a:close/>
                </a:path>
              </a:pathLst>
            </a:custGeom>
            <a:solidFill>
              <a:srgbClr val="D8D4D4"/>
            </a:solidFill>
            <a:ln w="12700">
              <a:solidFill>
                <a:srgbClr val="000000"/>
              </a:solidFill>
            </a:ln>
          </p:spPr>
        </p:sp>
      </p:grpSp>
      <p:grpSp>
        <p:nvGrpSpPr>
          <p:cNvPr name="Group 10" id="10"/>
          <p:cNvGrpSpPr/>
          <p:nvPr/>
        </p:nvGrpSpPr>
        <p:grpSpPr>
          <a:xfrm rot="0">
            <a:off x="4520645" y="2715815"/>
            <a:ext cx="371395" cy="15240"/>
            <a:chOff x="0" y="0"/>
            <a:chExt cx="495194" cy="20320"/>
          </a:xfrm>
        </p:grpSpPr>
        <p:sp>
          <p:nvSpPr>
            <p:cNvPr name="Freeform 11" id="11"/>
            <p:cNvSpPr/>
            <p:nvPr/>
          </p:nvSpPr>
          <p:spPr>
            <a:xfrm flipH="false" flipV="false" rot="0">
              <a:off x="0" y="0"/>
              <a:ext cx="495173" cy="20320"/>
            </a:xfrm>
            <a:custGeom>
              <a:avLst/>
              <a:gdLst/>
              <a:ahLst/>
              <a:cxnLst/>
              <a:rect r="r" b="b" t="t" l="l"/>
              <a:pathLst>
                <a:path h="20320" w="495173">
                  <a:moveTo>
                    <a:pt x="0" y="10160"/>
                  </a:moveTo>
                  <a:cubicBezTo>
                    <a:pt x="0" y="4572"/>
                    <a:pt x="4572" y="0"/>
                    <a:pt x="10160" y="0"/>
                  </a:cubicBezTo>
                  <a:lnTo>
                    <a:pt x="485013" y="0"/>
                  </a:lnTo>
                  <a:cubicBezTo>
                    <a:pt x="490601" y="0"/>
                    <a:pt x="495173" y="4572"/>
                    <a:pt x="495173" y="10160"/>
                  </a:cubicBezTo>
                  <a:cubicBezTo>
                    <a:pt x="495173" y="15748"/>
                    <a:pt x="490601" y="20320"/>
                    <a:pt x="485013"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12" id="12"/>
          <p:cNvGrpSpPr/>
          <p:nvPr/>
        </p:nvGrpSpPr>
        <p:grpSpPr>
          <a:xfrm rot="0">
            <a:off x="4830405" y="2677041"/>
            <a:ext cx="92789" cy="92789"/>
            <a:chOff x="0" y="0"/>
            <a:chExt cx="123719" cy="123719"/>
          </a:xfrm>
        </p:grpSpPr>
        <p:sp>
          <p:nvSpPr>
            <p:cNvPr name="Freeform 13" id="13"/>
            <p:cNvSpPr/>
            <p:nvPr/>
          </p:nvSpPr>
          <p:spPr>
            <a:xfrm flipH="false" flipV="false" rot="0">
              <a:off x="0" y="0"/>
              <a:ext cx="123698" cy="123698"/>
            </a:xfrm>
            <a:custGeom>
              <a:avLst/>
              <a:gdLst/>
              <a:ahLst/>
              <a:cxnLst/>
              <a:rect r="r" b="b" t="t" l="l"/>
              <a:pathLst>
                <a:path h="123698" w="123698">
                  <a:moveTo>
                    <a:pt x="0" y="61849"/>
                  </a:moveTo>
                  <a:cubicBezTo>
                    <a:pt x="0" y="27686"/>
                    <a:pt x="27686" y="0"/>
                    <a:pt x="61849" y="0"/>
                  </a:cubicBezTo>
                  <a:cubicBezTo>
                    <a:pt x="96012" y="0"/>
                    <a:pt x="123698" y="27686"/>
                    <a:pt x="123698" y="61849"/>
                  </a:cubicBezTo>
                  <a:cubicBezTo>
                    <a:pt x="123698" y="96012"/>
                    <a:pt x="96012" y="123698"/>
                    <a:pt x="61849" y="123698"/>
                  </a:cubicBezTo>
                  <a:cubicBezTo>
                    <a:pt x="27686" y="123698"/>
                    <a:pt x="0" y="96012"/>
                    <a:pt x="0" y="61849"/>
                  </a:cubicBezTo>
                  <a:close/>
                </a:path>
              </a:pathLst>
            </a:custGeom>
            <a:solidFill>
              <a:srgbClr val="3E2513"/>
            </a:solidFill>
            <a:ln w="12700">
              <a:solidFill>
                <a:srgbClr val="000000"/>
              </a:solidFill>
            </a:ln>
          </p:spPr>
        </p:sp>
      </p:grpSp>
      <p:grpSp>
        <p:nvGrpSpPr>
          <p:cNvPr name="Group 14" id="14"/>
          <p:cNvGrpSpPr/>
          <p:nvPr/>
        </p:nvGrpSpPr>
        <p:grpSpPr>
          <a:xfrm rot="0">
            <a:off x="521255" y="1822133"/>
            <a:ext cx="3984149" cy="1802606"/>
            <a:chOff x="0" y="0"/>
            <a:chExt cx="5312198" cy="2403475"/>
          </a:xfrm>
        </p:grpSpPr>
        <p:sp>
          <p:nvSpPr>
            <p:cNvPr name="Freeform 15" id="15"/>
            <p:cNvSpPr/>
            <p:nvPr/>
          </p:nvSpPr>
          <p:spPr>
            <a:xfrm flipH="false" flipV="false" rot="0">
              <a:off x="0" y="0"/>
              <a:ext cx="5312156" cy="2403475"/>
            </a:xfrm>
            <a:custGeom>
              <a:avLst/>
              <a:gdLst/>
              <a:ahLst/>
              <a:cxnLst/>
              <a:rect r="r" b="b" t="t" l="l"/>
              <a:pathLst>
                <a:path h="2403475" w="5312156">
                  <a:moveTo>
                    <a:pt x="0" y="24765"/>
                  </a:moveTo>
                  <a:cubicBezTo>
                    <a:pt x="0" y="11049"/>
                    <a:pt x="11049" y="0"/>
                    <a:pt x="24765" y="0"/>
                  </a:cubicBezTo>
                  <a:lnTo>
                    <a:pt x="5287391" y="0"/>
                  </a:lnTo>
                  <a:cubicBezTo>
                    <a:pt x="5301107" y="0"/>
                    <a:pt x="5312156" y="11049"/>
                    <a:pt x="5312156" y="24765"/>
                  </a:cubicBezTo>
                  <a:lnTo>
                    <a:pt x="5312156" y="2378710"/>
                  </a:lnTo>
                  <a:cubicBezTo>
                    <a:pt x="5312156" y="2392426"/>
                    <a:pt x="5301107" y="2403475"/>
                    <a:pt x="5287391" y="2403475"/>
                  </a:cubicBezTo>
                  <a:lnTo>
                    <a:pt x="24765" y="2403475"/>
                  </a:lnTo>
                  <a:cubicBezTo>
                    <a:pt x="11049" y="2403475"/>
                    <a:pt x="0" y="2392426"/>
                    <a:pt x="0" y="2378710"/>
                  </a:cubicBezTo>
                  <a:close/>
                </a:path>
              </a:pathLst>
            </a:custGeom>
            <a:solidFill>
              <a:srgbClr val="F9F7F7"/>
            </a:solidFill>
            <a:ln w="12700">
              <a:solidFill>
                <a:srgbClr val="000000"/>
              </a:solidFill>
            </a:ln>
          </p:spPr>
        </p:sp>
      </p:grpSp>
      <p:sp>
        <p:nvSpPr>
          <p:cNvPr name="TextBox 16" id="16"/>
          <p:cNvSpPr txBox="true"/>
          <p:nvPr/>
        </p:nvSpPr>
        <p:spPr>
          <a:xfrm rot="0">
            <a:off x="2528253" y="1917303"/>
            <a:ext cx="1853406" cy="222012"/>
          </a:xfrm>
          <a:prstGeom prst="rect">
            <a:avLst/>
          </a:prstGeom>
        </p:spPr>
        <p:txBody>
          <a:bodyPr anchor="t" rtlCol="false" tIns="0" lIns="0" bIns="0" rIns="0">
            <a:spAutoFit/>
          </a:bodyPr>
          <a:lstStyle/>
          <a:p>
            <a:pPr algn="r">
              <a:lnSpc>
                <a:spcPts val="1500"/>
              </a:lnSpc>
            </a:pPr>
            <a:r>
              <a:rPr lang="en-US" sz="1200">
                <a:solidFill>
                  <a:srgbClr val="504C49"/>
                </a:solidFill>
                <a:latin typeface="Arimo"/>
                <a:ea typeface="Arimo"/>
                <a:cs typeface="Arimo"/>
                <a:sym typeface="Arimo"/>
              </a:rPr>
              <a:t>GUI Design with Tkinter</a:t>
            </a:r>
          </a:p>
        </p:txBody>
      </p:sp>
      <p:sp>
        <p:nvSpPr>
          <p:cNvPr name="TextBox 17" id="17"/>
          <p:cNvSpPr txBox="true"/>
          <p:nvPr/>
        </p:nvSpPr>
        <p:spPr>
          <a:xfrm rot="0">
            <a:off x="645001" y="2175431"/>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Crafting the visual components, </a:t>
            </a:r>
          </a:p>
        </p:txBody>
      </p:sp>
      <p:sp>
        <p:nvSpPr>
          <p:cNvPr name="TextBox 18" id="18"/>
          <p:cNvSpPr txBox="true"/>
          <p:nvPr/>
        </p:nvSpPr>
        <p:spPr>
          <a:xfrm rot="0">
            <a:off x="645001" y="2447766"/>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including the login screen, </a:t>
            </a:r>
          </a:p>
        </p:txBody>
      </p:sp>
      <p:sp>
        <p:nvSpPr>
          <p:cNvPr name="TextBox 19" id="19"/>
          <p:cNvSpPr txBox="true"/>
          <p:nvPr/>
        </p:nvSpPr>
        <p:spPr>
          <a:xfrm rot="0">
            <a:off x="645001" y="2720102"/>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main menu, and </a:t>
            </a:r>
          </a:p>
        </p:txBody>
      </p:sp>
      <p:sp>
        <p:nvSpPr>
          <p:cNvPr name="TextBox 20" id="20"/>
          <p:cNvSpPr txBox="true"/>
          <p:nvPr/>
        </p:nvSpPr>
        <p:spPr>
          <a:xfrm rot="0">
            <a:off x="645001" y="2992437"/>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various transaction windows, </a:t>
            </a:r>
          </a:p>
        </p:txBody>
      </p:sp>
      <p:sp>
        <p:nvSpPr>
          <p:cNvPr name="TextBox 21" id="21"/>
          <p:cNvSpPr txBox="true"/>
          <p:nvPr/>
        </p:nvSpPr>
        <p:spPr>
          <a:xfrm rot="0">
            <a:off x="645001" y="3264773"/>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for an engaging user experience.</a:t>
            </a:r>
          </a:p>
        </p:txBody>
      </p:sp>
      <p:grpSp>
        <p:nvGrpSpPr>
          <p:cNvPr name="Group 22" id="22"/>
          <p:cNvGrpSpPr/>
          <p:nvPr/>
        </p:nvGrpSpPr>
        <p:grpSpPr>
          <a:xfrm rot="0">
            <a:off x="4861560" y="3421459"/>
            <a:ext cx="371395" cy="15240"/>
            <a:chOff x="0" y="0"/>
            <a:chExt cx="495194" cy="20320"/>
          </a:xfrm>
        </p:grpSpPr>
        <p:sp>
          <p:nvSpPr>
            <p:cNvPr name="Freeform 23" id="23"/>
            <p:cNvSpPr/>
            <p:nvPr/>
          </p:nvSpPr>
          <p:spPr>
            <a:xfrm flipH="false" flipV="false" rot="0">
              <a:off x="0" y="0"/>
              <a:ext cx="495173" cy="20320"/>
            </a:xfrm>
            <a:custGeom>
              <a:avLst/>
              <a:gdLst/>
              <a:ahLst/>
              <a:cxnLst/>
              <a:rect r="r" b="b" t="t" l="l"/>
              <a:pathLst>
                <a:path h="20320" w="495173">
                  <a:moveTo>
                    <a:pt x="0" y="10160"/>
                  </a:moveTo>
                  <a:cubicBezTo>
                    <a:pt x="0" y="4572"/>
                    <a:pt x="4572" y="0"/>
                    <a:pt x="10160" y="0"/>
                  </a:cubicBezTo>
                  <a:lnTo>
                    <a:pt x="485013" y="0"/>
                  </a:lnTo>
                  <a:cubicBezTo>
                    <a:pt x="490601" y="0"/>
                    <a:pt x="495173" y="4572"/>
                    <a:pt x="495173" y="10160"/>
                  </a:cubicBezTo>
                  <a:cubicBezTo>
                    <a:pt x="495173" y="15748"/>
                    <a:pt x="490601" y="20320"/>
                    <a:pt x="485013"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24" id="24"/>
          <p:cNvGrpSpPr/>
          <p:nvPr/>
        </p:nvGrpSpPr>
        <p:grpSpPr>
          <a:xfrm rot="0">
            <a:off x="4830405" y="3382685"/>
            <a:ext cx="92789" cy="92789"/>
            <a:chOff x="0" y="0"/>
            <a:chExt cx="123719" cy="123719"/>
          </a:xfrm>
        </p:grpSpPr>
        <p:sp>
          <p:nvSpPr>
            <p:cNvPr name="Freeform 25" id="25"/>
            <p:cNvSpPr/>
            <p:nvPr/>
          </p:nvSpPr>
          <p:spPr>
            <a:xfrm flipH="false" flipV="false" rot="0">
              <a:off x="0" y="0"/>
              <a:ext cx="123698" cy="123698"/>
            </a:xfrm>
            <a:custGeom>
              <a:avLst/>
              <a:gdLst/>
              <a:ahLst/>
              <a:cxnLst/>
              <a:rect r="r" b="b" t="t" l="l"/>
              <a:pathLst>
                <a:path h="123698" w="123698">
                  <a:moveTo>
                    <a:pt x="0" y="61849"/>
                  </a:moveTo>
                  <a:cubicBezTo>
                    <a:pt x="0" y="27686"/>
                    <a:pt x="27686" y="0"/>
                    <a:pt x="61849" y="0"/>
                  </a:cubicBezTo>
                  <a:cubicBezTo>
                    <a:pt x="96012" y="0"/>
                    <a:pt x="123698" y="27686"/>
                    <a:pt x="123698" y="61849"/>
                  </a:cubicBezTo>
                  <a:cubicBezTo>
                    <a:pt x="123698" y="96012"/>
                    <a:pt x="96012" y="123698"/>
                    <a:pt x="61849" y="123698"/>
                  </a:cubicBezTo>
                  <a:cubicBezTo>
                    <a:pt x="27686" y="123698"/>
                    <a:pt x="0" y="96012"/>
                    <a:pt x="0" y="61849"/>
                  </a:cubicBezTo>
                  <a:close/>
                </a:path>
              </a:pathLst>
            </a:custGeom>
            <a:solidFill>
              <a:srgbClr val="3E2513"/>
            </a:solidFill>
            <a:ln w="12700">
              <a:solidFill>
                <a:srgbClr val="000000"/>
              </a:solidFill>
            </a:ln>
          </p:spPr>
        </p:sp>
      </p:grpSp>
      <p:grpSp>
        <p:nvGrpSpPr>
          <p:cNvPr name="Group 26" id="26"/>
          <p:cNvGrpSpPr/>
          <p:nvPr/>
        </p:nvGrpSpPr>
        <p:grpSpPr>
          <a:xfrm rot="0">
            <a:off x="5248195" y="2564924"/>
            <a:ext cx="3984149" cy="1728391"/>
            <a:chOff x="0" y="0"/>
            <a:chExt cx="5312198" cy="2304521"/>
          </a:xfrm>
        </p:grpSpPr>
        <p:sp>
          <p:nvSpPr>
            <p:cNvPr name="Freeform 27" id="27"/>
            <p:cNvSpPr/>
            <p:nvPr/>
          </p:nvSpPr>
          <p:spPr>
            <a:xfrm flipH="false" flipV="false" rot="0">
              <a:off x="0" y="0"/>
              <a:ext cx="5312156" cy="2304542"/>
            </a:xfrm>
            <a:custGeom>
              <a:avLst/>
              <a:gdLst/>
              <a:ahLst/>
              <a:cxnLst/>
              <a:rect r="r" b="b" t="t" l="l"/>
              <a:pathLst>
                <a:path h="2304542" w="5312156">
                  <a:moveTo>
                    <a:pt x="0" y="24765"/>
                  </a:moveTo>
                  <a:cubicBezTo>
                    <a:pt x="0" y="11049"/>
                    <a:pt x="11049" y="0"/>
                    <a:pt x="24765" y="0"/>
                  </a:cubicBezTo>
                  <a:lnTo>
                    <a:pt x="5287391" y="0"/>
                  </a:lnTo>
                  <a:cubicBezTo>
                    <a:pt x="5301107" y="0"/>
                    <a:pt x="5312156" y="11049"/>
                    <a:pt x="5312156" y="24765"/>
                  </a:cubicBezTo>
                  <a:lnTo>
                    <a:pt x="5312156" y="2279777"/>
                  </a:lnTo>
                  <a:cubicBezTo>
                    <a:pt x="5312156" y="2293493"/>
                    <a:pt x="5301107" y="2304542"/>
                    <a:pt x="5287391" y="2304542"/>
                  </a:cubicBezTo>
                  <a:lnTo>
                    <a:pt x="24765" y="2304542"/>
                  </a:lnTo>
                  <a:cubicBezTo>
                    <a:pt x="11049" y="2304542"/>
                    <a:pt x="0" y="2293493"/>
                    <a:pt x="0" y="2279777"/>
                  </a:cubicBezTo>
                  <a:close/>
                </a:path>
              </a:pathLst>
            </a:custGeom>
            <a:solidFill>
              <a:srgbClr val="F9F7F7"/>
            </a:solidFill>
            <a:ln w="12700">
              <a:solidFill>
                <a:srgbClr val="000000"/>
              </a:solidFill>
            </a:ln>
          </p:spPr>
        </p:sp>
      </p:grpSp>
      <p:sp>
        <p:nvSpPr>
          <p:cNvPr name="TextBox 28" id="28"/>
          <p:cNvSpPr txBox="true"/>
          <p:nvPr/>
        </p:nvSpPr>
        <p:spPr>
          <a:xfrm rot="0">
            <a:off x="5371941" y="2660094"/>
            <a:ext cx="1949450" cy="222012"/>
          </a:xfrm>
          <a:prstGeom prst="rect">
            <a:avLst/>
          </a:prstGeom>
        </p:spPr>
        <p:txBody>
          <a:bodyPr anchor="t" rtlCol="false" tIns="0" lIns="0" bIns="0" rIns="0">
            <a:spAutoFit/>
          </a:bodyPr>
          <a:lstStyle/>
          <a:p>
            <a:pPr algn="l">
              <a:lnSpc>
                <a:spcPts val="1500"/>
              </a:lnSpc>
            </a:pPr>
            <a:r>
              <a:rPr lang="en-US" sz="1200">
                <a:solidFill>
                  <a:srgbClr val="504C49"/>
                </a:solidFill>
                <a:latin typeface="Arimo"/>
                <a:ea typeface="Arimo"/>
                <a:cs typeface="Arimo"/>
                <a:sym typeface="Arimo"/>
              </a:rPr>
              <a:t>SQLite Database Creation</a:t>
            </a:r>
          </a:p>
        </p:txBody>
      </p:sp>
      <p:sp>
        <p:nvSpPr>
          <p:cNvPr name="TextBox 29" id="29"/>
          <p:cNvSpPr txBox="true"/>
          <p:nvPr/>
        </p:nvSpPr>
        <p:spPr>
          <a:xfrm rot="0">
            <a:off x="5371941" y="2918222"/>
            <a:ext cx="3736657" cy="236220"/>
          </a:xfrm>
          <a:prstGeom prst="rect">
            <a:avLst/>
          </a:prstGeom>
        </p:spPr>
        <p:txBody>
          <a:bodyPr anchor="t" rtlCol="false" tIns="0" lIns="0" bIns="0" rIns="0">
            <a:spAutoFit/>
          </a:bodyPr>
          <a:lstStyle/>
          <a:p>
            <a:pPr algn="l">
              <a:lnSpc>
                <a:spcPts val="1533"/>
              </a:lnSpc>
            </a:pPr>
            <a:r>
              <a:rPr lang="en-US" sz="966">
                <a:solidFill>
                  <a:srgbClr val="504C49"/>
                </a:solidFill>
                <a:latin typeface="Source Serif Pro"/>
                <a:ea typeface="Source Serif Pro"/>
                <a:cs typeface="Source Serif Pro"/>
                <a:sym typeface="Source Serif Pro"/>
              </a:rPr>
              <a:t>Establishing the database schema with tables for </a:t>
            </a:r>
          </a:p>
        </p:txBody>
      </p:sp>
      <p:sp>
        <p:nvSpPr>
          <p:cNvPr name="TextBox 30" id="30"/>
          <p:cNvSpPr txBox="true"/>
          <p:nvPr/>
        </p:nvSpPr>
        <p:spPr>
          <a:xfrm rot="0">
            <a:off x="5371941" y="3190557"/>
            <a:ext cx="3736657" cy="236220"/>
          </a:xfrm>
          <a:prstGeom prst="rect">
            <a:avLst/>
          </a:prstGeom>
        </p:spPr>
        <p:txBody>
          <a:bodyPr anchor="t" rtlCol="false" tIns="0" lIns="0" bIns="0" rIns="0">
            <a:spAutoFit/>
          </a:bodyPr>
          <a:lstStyle/>
          <a:p>
            <a:pPr algn="l">
              <a:lnSpc>
                <a:spcPts val="1533"/>
              </a:lnSpc>
            </a:pPr>
            <a:r>
              <a:rPr lang="en-US" sz="966" b="true">
                <a:solidFill>
                  <a:srgbClr val="504C49"/>
                </a:solidFill>
                <a:latin typeface="Source Serif Pro Bold"/>
                <a:ea typeface="Source Serif Pro Bold"/>
                <a:cs typeface="Source Serif Pro Bold"/>
                <a:sym typeface="Source Serif Pro Bold"/>
              </a:rPr>
              <a:t>user accounts</a:t>
            </a:r>
            <a:r>
              <a:rPr lang="en-US" sz="966">
                <a:solidFill>
                  <a:srgbClr val="504C49"/>
                </a:solidFill>
                <a:latin typeface="Source Serif Pro"/>
                <a:ea typeface="Source Serif Pro"/>
                <a:cs typeface="Source Serif Pro"/>
                <a:sym typeface="Source Serif Pro"/>
              </a:rPr>
              <a:t> (card, pin, name, balance), </a:t>
            </a:r>
          </a:p>
        </p:txBody>
      </p:sp>
      <p:sp>
        <p:nvSpPr>
          <p:cNvPr name="TextBox 31" id="31"/>
          <p:cNvSpPr txBox="true"/>
          <p:nvPr/>
        </p:nvSpPr>
        <p:spPr>
          <a:xfrm rot="0">
            <a:off x="5371941" y="3462893"/>
            <a:ext cx="3736657" cy="434340"/>
          </a:xfrm>
          <a:prstGeom prst="rect">
            <a:avLst/>
          </a:prstGeom>
        </p:spPr>
        <p:txBody>
          <a:bodyPr anchor="t" rtlCol="false" tIns="0" lIns="0" bIns="0" rIns="0">
            <a:spAutoFit/>
          </a:bodyPr>
          <a:lstStyle/>
          <a:p>
            <a:pPr algn="l">
              <a:lnSpc>
                <a:spcPts val="1533"/>
              </a:lnSpc>
            </a:pPr>
            <a:r>
              <a:rPr lang="en-US" sz="966" b="true">
                <a:solidFill>
                  <a:srgbClr val="504C49"/>
                </a:solidFill>
                <a:latin typeface="Source Serif Pro Bold"/>
                <a:ea typeface="Source Serif Pro Bold"/>
                <a:cs typeface="Source Serif Pro Bold"/>
                <a:sym typeface="Source Serif Pro Bold"/>
              </a:rPr>
              <a:t>transactions</a:t>
            </a:r>
            <a:r>
              <a:rPr lang="en-US" sz="966">
                <a:solidFill>
                  <a:srgbClr val="504C49"/>
                </a:solidFill>
                <a:latin typeface="Source Serif Pro"/>
                <a:ea typeface="Source Serif Pro"/>
                <a:cs typeface="Source Serif Pro"/>
                <a:sym typeface="Source Serif Pro"/>
              </a:rPr>
              <a:t> (id, card, type, amount, balance_after, timestamp), and </a:t>
            </a:r>
          </a:p>
        </p:txBody>
      </p:sp>
      <p:sp>
        <p:nvSpPr>
          <p:cNvPr name="TextBox 32" id="32"/>
          <p:cNvSpPr txBox="true"/>
          <p:nvPr/>
        </p:nvSpPr>
        <p:spPr>
          <a:xfrm rot="0">
            <a:off x="5371941" y="3933349"/>
            <a:ext cx="3736657" cy="236220"/>
          </a:xfrm>
          <a:prstGeom prst="rect">
            <a:avLst/>
          </a:prstGeom>
        </p:spPr>
        <p:txBody>
          <a:bodyPr anchor="t" rtlCol="false" tIns="0" lIns="0" bIns="0" rIns="0">
            <a:spAutoFit/>
          </a:bodyPr>
          <a:lstStyle/>
          <a:p>
            <a:pPr algn="l">
              <a:lnSpc>
                <a:spcPts val="1533"/>
              </a:lnSpc>
            </a:pPr>
            <a:r>
              <a:rPr lang="en-US" sz="966" b="true">
                <a:solidFill>
                  <a:srgbClr val="504C49"/>
                </a:solidFill>
                <a:latin typeface="Source Serif Pro Bold"/>
                <a:ea typeface="Source Serif Pro Bold"/>
                <a:cs typeface="Source Serif Pro Bold"/>
                <a:sym typeface="Source Serif Pro Bold"/>
              </a:rPr>
              <a:t>activity logs</a:t>
            </a:r>
            <a:r>
              <a:rPr lang="en-US" sz="966">
                <a:solidFill>
                  <a:srgbClr val="504C49"/>
                </a:solidFill>
                <a:latin typeface="Source Serif Pro"/>
                <a:ea typeface="Source Serif Pro"/>
                <a:cs typeface="Source Serif Pro"/>
                <a:sym typeface="Source Serif Pro"/>
              </a:rPr>
              <a:t> (id, card, name, action, timestamp).</a:t>
            </a:r>
          </a:p>
        </p:txBody>
      </p:sp>
      <p:grpSp>
        <p:nvGrpSpPr>
          <p:cNvPr name="Group 33" id="33"/>
          <p:cNvGrpSpPr/>
          <p:nvPr/>
        </p:nvGrpSpPr>
        <p:grpSpPr>
          <a:xfrm rot="0">
            <a:off x="4520645" y="4902121"/>
            <a:ext cx="371395" cy="15240"/>
            <a:chOff x="0" y="0"/>
            <a:chExt cx="495194" cy="20320"/>
          </a:xfrm>
        </p:grpSpPr>
        <p:sp>
          <p:nvSpPr>
            <p:cNvPr name="Freeform 34" id="34"/>
            <p:cNvSpPr/>
            <p:nvPr/>
          </p:nvSpPr>
          <p:spPr>
            <a:xfrm flipH="false" flipV="false" rot="0">
              <a:off x="0" y="0"/>
              <a:ext cx="495173" cy="20320"/>
            </a:xfrm>
            <a:custGeom>
              <a:avLst/>
              <a:gdLst/>
              <a:ahLst/>
              <a:cxnLst/>
              <a:rect r="r" b="b" t="t" l="l"/>
              <a:pathLst>
                <a:path h="20320" w="495173">
                  <a:moveTo>
                    <a:pt x="0" y="10160"/>
                  </a:moveTo>
                  <a:cubicBezTo>
                    <a:pt x="0" y="4572"/>
                    <a:pt x="4572" y="0"/>
                    <a:pt x="10160" y="0"/>
                  </a:cubicBezTo>
                  <a:lnTo>
                    <a:pt x="485013" y="0"/>
                  </a:lnTo>
                  <a:cubicBezTo>
                    <a:pt x="490601" y="0"/>
                    <a:pt x="495173" y="4572"/>
                    <a:pt x="495173" y="10160"/>
                  </a:cubicBezTo>
                  <a:cubicBezTo>
                    <a:pt x="495173" y="15748"/>
                    <a:pt x="490601" y="20320"/>
                    <a:pt x="485013"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35" id="35"/>
          <p:cNvGrpSpPr/>
          <p:nvPr/>
        </p:nvGrpSpPr>
        <p:grpSpPr>
          <a:xfrm rot="0">
            <a:off x="4830405" y="4863346"/>
            <a:ext cx="92789" cy="92789"/>
            <a:chOff x="0" y="0"/>
            <a:chExt cx="123719" cy="123719"/>
          </a:xfrm>
        </p:grpSpPr>
        <p:sp>
          <p:nvSpPr>
            <p:cNvPr name="Freeform 36" id="36"/>
            <p:cNvSpPr/>
            <p:nvPr/>
          </p:nvSpPr>
          <p:spPr>
            <a:xfrm flipH="false" flipV="false" rot="0">
              <a:off x="0" y="0"/>
              <a:ext cx="123698" cy="123698"/>
            </a:xfrm>
            <a:custGeom>
              <a:avLst/>
              <a:gdLst/>
              <a:ahLst/>
              <a:cxnLst/>
              <a:rect r="r" b="b" t="t" l="l"/>
              <a:pathLst>
                <a:path h="123698" w="123698">
                  <a:moveTo>
                    <a:pt x="0" y="61849"/>
                  </a:moveTo>
                  <a:cubicBezTo>
                    <a:pt x="0" y="27686"/>
                    <a:pt x="27686" y="0"/>
                    <a:pt x="61849" y="0"/>
                  </a:cubicBezTo>
                  <a:cubicBezTo>
                    <a:pt x="96012" y="0"/>
                    <a:pt x="123698" y="27686"/>
                    <a:pt x="123698" y="61849"/>
                  </a:cubicBezTo>
                  <a:cubicBezTo>
                    <a:pt x="123698" y="96012"/>
                    <a:pt x="96012" y="123698"/>
                    <a:pt x="61849" y="123698"/>
                  </a:cubicBezTo>
                  <a:cubicBezTo>
                    <a:pt x="27686" y="123698"/>
                    <a:pt x="0" y="96012"/>
                    <a:pt x="0" y="61849"/>
                  </a:cubicBezTo>
                  <a:close/>
                </a:path>
              </a:pathLst>
            </a:custGeom>
            <a:solidFill>
              <a:srgbClr val="3E2513"/>
            </a:solidFill>
            <a:ln w="12700">
              <a:solidFill>
                <a:srgbClr val="000000"/>
              </a:solidFill>
            </a:ln>
          </p:spPr>
        </p:sp>
      </p:grpSp>
      <p:grpSp>
        <p:nvGrpSpPr>
          <p:cNvPr name="Group 37" id="37"/>
          <p:cNvGrpSpPr/>
          <p:nvPr/>
        </p:nvGrpSpPr>
        <p:grpSpPr>
          <a:xfrm rot="0">
            <a:off x="521255" y="3872309"/>
            <a:ext cx="3984149" cy="2074942"/>
            <a:chOff x="0" y="0"/>
            <a:chExt cx="5312198" cy="2766589"/>
          </a:xfrm>
        </p:grpSpPr>
        <p:sp>
          <p:nvSpPr>
            <p:cNvPr name="Freeform 38" id="38"/>
            <p:cNvSpPr/>
            <p:nvPr/>
          </p:nvSpPr>
          <p:spPr>
            <a:xfrm flipH="false" flipV="false" rot="0">
              <a:off x="0" y="0"/>
              <a:ext cx="5312156" cy="2766568"/>
            </a:xfrm>
            <a:custGeom>
              <a:avLst/>
              <a:gdLst/>
              <a:ahLst/>
              <a:cxnLst/>
              <a:rect r="r" b="b" t="t" l="l"/>
              <a:pathLst>
                <a:path h="2766568" w="5312156">
                  <a:moveTo>
                    <a:pt x="0" y="24765"/>
                  </a:moveTo>
                  <a:cubicBezTo>
                    <a:pt x="0" y="11049"/>
                    <a:pt x="11049" y="0"/>
                    <a:pt x="24765" y="0"/>
                  </a:cubicBezTo>
                  <a:lnTo>
                    <a:pt x="5287391" y="0"/>
                  </a:lnTo>
                  <a:cubicBezTo>
                    <a:pt x="5301107" y="0"/>
                    <a:pt x="5312156" y="11049"/>
                    <a:pt x="5312156" y="24765"/>
                  </a:cubicBezTo>
                  <a:lnTo>
                    <a:pt x="5312156" y="2741803"/>
                  </a:lnTo>
                  <a:cubicBezTo>
                    <a:pt x="5312156" y="2755519"/>
                    <a:pt x="5301107" y="2766568"/>
                    <a:pt x="5287391" y="2766568"/>
                  </a:cubicBezTo>
                  <a:lnTo>
                    <a:pt x="24765" y="2766568"/>
                  </a:lnTo>
                  <a:cubicBezTo>
                    <a:pt x="11049" y="2766568"/>
                    <a:pt x="0" y="2755519"/>
                    <a:pt x="0" y="2741803"/>
                  </a:cubicBezTo>
                  <a:close/>
                </a:path>
              </a:pathLst>
            </a:custGeom>
            <a:solidFill>
              <a:srgbClr val="F9F7F7"/>
            </a:solidFill>
            <a:ln w="12700">
              <a:solidFill>
                <a:srgbClr val="000000"/>
              </a:solidFill>
            </a:ln>
          </p:spPr>
        </p:sp>
      </p:grpSp>
      <p:sp>
        <p:nvSpPr>
          <p:cNvPr name="TextBox 39" id="39"/>
          <p:cNvSpPr txBox="true"/>
          <p:nvPr/>
        </p:nvSpPr>
        <p:spPr>
          <a:xfrm rot="0">
            <a:off x="1705293" y="3967480"/>
            <a:ext cx="2676366" cy="222012"/>
          </a:xfrm>
          <a:prstGeom prst="rect">
            <a:avLst/>
          </a:prstGeom>
        </p:spPr>
        <p:txBody>
          <a:bodyPr anchor="t" rtlCol="false" tIns="0" lIns="0" bIns="0" rIns="0">
            <a:spAutoFit/>
          </a:bodyPr>
          <a:lstStyle/>
          <a:p>
            <a:pPr algn="r">
              <a:lnSpc>
                <a:spcPts val="1500"/>
              </a:lnSpc>
            </a:pPr>
            <a:r>
              <a:rPr lang="en-US" sz="1200">
                <a:solidFill>
                  <a:srgbClr val="504C49"/>
                </a:solidFill>
                <a:latin typeface="Arimo"/>
                <a:ea typeface="Arimo"/>
                <a:cs typeface="Arimo"/>
                <a:sym typeface="Arimo"/>
              </a:rPr>
              <a:t>Core Functionality Implementation</a:t>
            </a:r>
          </a:p>
        </p:txBody>
      </p:sp>
      <p:sp>
        <p:nvSpPr>
          <p:cNvPr name="TextBox 40" id="40"/>
          <p:cNvSpPr txBox="true"/>
          <p:nvPr/>
        </p:nvSpPr>
        <p:spPr>
          <a:xfrm rot="0">
            <a:off x="645001" y="4225607"/>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Developing the backend logic for </a:t>
            </a:r>
          </a:p>
        </p:txBody>
      </p:sp>
      <p:sp>
        <p:nvSpPr>
          <p:cNvPr name="TextBox 41" id="41"/>
          <p:cNvSpPr txBox="true"/>
          <p:nvPr/>
        </p:nvSpPr>
        <p:spPr>
          <a:xfrm rot="0">
            <a:off x="645001" y="4497943"/>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account creation, </a:t>
            </a:r>
          </a:p>
        </p:txBody>
      </p:sp>
      <p:sp>
        <p:nvSpPr>
          <p:cNvPr name="TextBox 42" id="42"/>
          <p:cNvSpPr txBox="true"/>
          <p:nvPr/>
        </p:nvSpPr>
        <p:spPr>
          <a:xfrm rot="0">
            <a:off x="645001" y="4770279"/>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login authentication, </a:t>
            </a:r>
          </a:p>
        </p:txBody>
      </p:sp>
      <p:sp>
        <p:nvSpPr>
          <p:cNvPr name="TextBox 43" id="43"/>
          <p:cNvSpPr txBox="true"/>
          <p:nvPr/>
        </p:nvSpPr>
        <p:spPr>
          <a:xfrm rot="0">
            <a:off x="645001" y="5042615"/>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deposit/withdrawal processes, </a:t>
            </a:r>
          </a:p>
        </p:txBody>
      </p:sp>
      <p:sp>
        <p:nvSpPr>
          <p:cNvPr name="TextBox 44" id="44"/>
          <p:cNvSpPr txBox="true"/>
          <p:nvPr/>
        </p:nvSpPr>
        <p:spPr>
          <a:xfrm rot="0">
            <a:off x="645001" y="5314950"/>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balance updates, and </a:t>
            </a:r>
          </a:p>
        </p:txBody>
      </p:sp>
      <p:sp>
        <p:nvSpPr>
          <p:cNvPr name="TextBox 45" id="45"/>
          <p:cNvSpPr txBox="true"/>
          <p:nvPr/>
        </p:nvSpPr>
        <p:spPr>
          <a:xfrm rot="0">
            <a:off x="645001" y="5587285"/>
            <a:ext cx="3736657" cy="236220"/>
          </a:xfrm>
          <a:prstGeom prst="rect">
            <a:avLst/>
          </a:prstGeom>
        </p:spPr>
        <p:txBody>
          <a:bodyPr anchor="t" rtlCol="false" tIns="0" lIns="0" bIns="0" rIns="0">
            <a:spAutoFit/>
          </a:bodyPr>
          <a:lstStyle/>
          <a:p>
            <a:pPr algn="r">
              <a:lnSpc>
                <a:spcPts val="1533"/>
              </a:lnSpc>
            </a:pPr>
            <a:r>
              <a:rPr lang="en-US" sz="966">
                <a:solidFill>
                  <a:srgbClr val="504C49"/>
                </a:solidFill>
                <a:latin typeface="Source Serif Pro"/>
                <a:ea typeface="Source Serif Pro"/>
                <a:cs typeface="Source Serif Pro"/>
                <a:sym typeface="Source Serif Pro"/>
              </a:rPr>
              <a:t>comprehensive logging of all activities.</a:t>
            </a:r>
          </a:p>
        </p:txBody>
      </p:sp>
      <p:grpSp>
        <p:nvGrpSpPr>
          <p:cNvPr name="Group 46" id="46"/>
          <p:cNvGrpSpPr/>
          <p:nvPr/>
        </p:nvGrpSpPr>
        <p:grpSpPr>
          <a:xfrm rot="0">
            <a:off x="4861560" y="5716825"/>
            <a:ext cx="371395" cy="15240"/>
            <a:chOff x="0" y="0"/>
            <a:chExt cx="495194" cy="20320"/>
          </a:xfrm>
        </p:grpSpPr>
        <p:sp>
          <p:nvSpPr>
            <p:cNvPr name="Freeform 47" id="47"/>
            <p:cNvSpPr/>
            <p:nvPr/>
          </p:nvSpPr>
          <p:spPr>
            <a:xfrm flipH="false" flipV="false" rot="0">
              <a:off x="0" y="0"/>
              <a:ext cx="495173" cy="20320"/>
            </a:xfrm>
            <a:custGeom>
              <a:avLst/>
              <a:gdLst/>
              <a:ahLst/>
              <a:cxnLst/>
              <a:rect r="r" b="b" t="t" l="l"/>
              <a:pathLst>
                <a:path h="20320" w="495173">
                  <a:moveTo>
                    <a:pt x="0" y="10160"/>
                  </a:moveTo>
                  <a:cubicBezTo>
                    <a:pt x="0" y="4572"/>
                    <a:pt x="4572" y="0"/>
                    <a:pt x="10160" y="0"/>
                  </a:cubicBezTo>
                  <a:lnTo>
                    <a:pt x="485013" y="0"/>
                  </a:lnTo>
                  <a:cubicBezTo>
                    <a:pt x="490601" y="0"/>
                    <a:pt x="495173" y="4572"/>
                    <a:pt x="495173" y="10160"/>
                  </a:cubicBezTo>
                  <a:cubicBezTo>
                    <a:pt x="495173" y="15748"/>
                    <a:pt x="490601" y="20320"/>
                    <a:pt x="485013"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48" id="48"/>
          <p:cNvGrpSpPr/>
          <p:nvPr/>
        </p:nvGrpSpPr>
        <p:grpSpPr>
          <a:xfrm rot="0">
            <a:off x="4830405" y="5678051"/>
            <a:ext cx="92789" cy="92789"/>
            <a:chOff x="0" y="0"/>
            <a:chExt cx="123719" cy="123719"/>
          </a:xfrm>
        </p:grpSpPr>
        <p:sp>
          <p:nvSpPr>
            <p:cNvPr name="Freeform 49" id="49"/>
            <p:cNvSpPr/>
            <p:nvPr/>
          </p:nvSpPr>
          <p:spPr>
            <a:xfrm flipH="false" flipV="false" rot="0">
              <a:off x="0" y="0"/>
              <a:ext cx="123698" cy="123698"/>
            </a:xfrm>
            <a:custGeom>
              <a:avLst/>
              <a:gdLst/>
              <a:ahLst/>
              <a:cxnLst/>
              <a:rect r="r" b="b" t="t" l="l"/>
              <a:pathLst>
                <a:path h="123698" w="123698">
                  <a:moveTo>
                    <a:pt x="0" y="61849"/>
                  </a:moveTo>
                  <a:cubicBezTo>
                    <a:pt x="0" y="27686"/>
                    <a:pt x="27686" y="0"/>
                    <a:pt x="61849" y="0"/>
                  </a:cubicBezTo>
                  <a:cubicBezTo>
                    <a:pt x="96012" y="0"/>
                    <a:pt x="123698" y="27686"/>
                    <a:pt x="123698" y="61849"/>
                  </a:cubicBezTo>
                  <a:cubicBezTo>
                    <a:pt x="123698" y="96012"/>
                    <a:pt x="96012" y="123698"/>
                    <a:pt x="61849" y="123698"/>
                  </a:cubicBezTo>
                  <a:cubicBezTo>
                    <a:pt x="27686" y="123698"/>
                    <a:pt x="0" y="96012"/>
                    <a:pt x="0" y="61849"/>
                  </a:cubicBezTo>
                  <a:close/>
                </a:path>
              </a:pathLst>
            </a:custGeom>
            <a:solidFill>
              <a:srgbClr val="3E2513"/>
            </a:solidFill>
            <a:ln w="12700">
              <a:solidFill>
                <a:srgbClr val="000000"/>
              </a:solidFill>
            </a:ln>
          </p:spPr>
        </p:sp>
      </p:grpSp>
      <p:grpSp>
        <p:nvGrpSpPr>
          <p:cNvPr name="Group 50" id="50"/>
          <p:cNvGrpSpPr/>
          <p:nvPr/>
        </p:nvGrpSpPr>
        <p:grpSpPr>
          <a:xfrm rot="0">
            <a:off x="5248195" y="5033565"/>
            <a:ext cx="3984149" cy="1381839"/>
            <a:chOff x="0" y="0"/>
            <a:chExt cx="5312198" cy="1842452"/>
          </a:xfrm>
        </p:grpSpPr>
        <p:sp>
          <p:nvSpPr>
            <p:cNvPr name="Freeform 51" id="51"/>
            <p:cNvSpPr/>
            <p:nvPr/>
          </p:nvSpPr>
          <p:spPr>
            <a:xfrm flipH="false" flipV="false" rot="0">
              <a:off x="0" y="0"/>
              <a:ext cx="5312156" cy="1842516"/>
            </a:xfrm>
            <a:custGeom>
              <a:avLst/>
              <a:gdLst/>
              <a:ahLst/>
              <a:cxnLst/>
              <a:rect r="r" b="b" t="t" l="l"/>
              <a:pathLst>
                <a:path h="1842516" w="5312156">
                  <a:moveTo>
                    <a:pt x="0" y="24765"/>
                  </a:moveTo>
                  <a:cubicBezTo>
                    <a:pt x="0" y="11049"/>
                    <a:pt x="11049" y="0"/>
                    <a:pt x="24765" y="0"/>
                  </a:cubicBezTo>
                  <a:lnTo>
                    <a:pt x="5287391" y="0"/>
                  </a:lnTo>
                  <a:cubicBezTo>
                    <a:pt x="5301107" y="0"/>
                    <a:pt x="5312156" y="11049"/>
                    <a:pt x="5312156" y="24765"/>
                  </a:cubicBezTo>
                  <a:lnTo>
                    <a:pt x="5312156" y="1817751"/>
                  </a:lnTo>
                  <a:cubicBezTo>
                    <a:pt x="5312156" y="1831467"/>
                    <a:pt x="5301107" y="1842516"/>
                    <a:pt x="5287391" y="1842516"/>
                  </a:cubicBezTo>
                  <a:lnTo>
                    <a:pt x="24765" y="1842516"/>
                  </a:lnTo>
                  <a:cubicBezTo>
                    <a:pt x="11049" y="1842516"/>
                    <a:pt x="0" y="1831467"/>
                    <a:pt x="0" y="1817751"/>
                  </a:cubicBezTo>
                  <a:close/>
                </a:path>
              </a:pathLst>
            </a:custGeom>
            <a:solidFill>
              <a:srgbClr val="F9F7F7"/>
            </a:solidFill>
            <a:ln w="12700">
              <a:solidFill>
                <a:srgbClr val="000000"/>
              </a:solidFill>
            </a:ln>
          </p:spPr>
        </p:sp>
      </p:grpSp>
      <p:sp>
        <p:nvSpPr>
          <p:cNvPr name="TextBox 52" id="52"/>
          <p:cNvSpPr txBox="true"/>
          <p:nvPr/>
        </p:nvSpPr>
        <p:spPr>
          <a:xfrm rot="0">
            <a:off x="5371941" y="5128736"/>
            <a:ext cx="2309575" cy="222012"/>
          </a:xfrm>
          <a:prstGeom prst="rect">
            <a:avLst/>
          </a:prstGeom>
        </p:spPr>
        <p:txBody>
          <a:bodyPr anchor="t" rtlCol="false" tIns="0" lIns="0" bIns="0" rIns="0">
            <a:spAutoFit/>
          </a:bodyPr>
          <a:lstStyle/>
          <a:p>
            <a:pPr algn="l">
              <a:lnSpc>
                <a:spcPts val="1500"/>
              </a:lnSpc>
            </a:pPr>
            <a:r>
              <a:rPr lang="en-US" sz="1200">
                <a:solidFill>
                  <a:srgbClr val="504C49"/>
                </a:solidFill>
                <a:latin typeface="Arimo"/>
                <a:ea typeface="Arimo"/>
                <a:cs typeface="Arimo"/>
                <a:sym typeface="Arimo"/>
              </a:rPr>
              <a:t>System Testing and Validation</a:t>
            </a:r>
          </a:p>
        </p:txBody>
      </p:sp>
      <p:sp>
        <p:nvSpPr>
          <p:cNvPr name="TextBox 53" id="53"/>
          <p:cNvSpPr txBox="true"/>
          <p:nvPr/>
        </p:nvSpPr>
        <p:spPr>
          <a:xfrm rot="0">
            <a:off x="5371941" y="5386864"/>
            <a:ext cx="3736657" cy="434340"/>
          </a:xfrm>
          <a:prstGeom prst="rect">
            <a:avLst/>
          </a:prstGeom>
        </p:spPr>
        <p:txBody>
          <a:bodyPr anchor="t" rtlCol="false" tIns="0" lIns="0" bIns="0" rIns="0">
            <a:spAutoFit/>
          </a:bodyPr>
          <a:lstStyle/>
          <a:p>
            <a:pPr algn="l">
              <a:lnSpc>
                <a:spcPts val="1533"/>
              </a:lnSpc>
            </a:pPr>
            <a:r>
              <a:rPr lang="en-US" sz="966">
                <a:solidFill>
                  <a:srgbClr val="504C49"/>
                </a:solidFill>
                <a:latin typeface="Source Serif Pro"/>
                <a:ea typeface="Source Serif Pro"/>
                <a:cs typeface="Source Serif Pro"/>
                <a:sym typeface="Source Serif Pro"/>
              </a:rPr>
              <a:t>Rigorous testing with demo accounts to validate all functionalities, </a:t>
            </a:r>
          </a:p>
        </p:txBody>
      </p:sp>
      <p:sp>
        <p:nvSpPr>
          <p:cNvPr name="TextBox 54" id="54"/>
          <p:cNvSpPr txBox="true"/>
          <p:nvPr/>
        </p:nvSpPr>
        <p:spPr>
          <a:xfrm rot="0">
            <a:off x="5371941" y="5857319"/>
            <a:ext cx="3736657" cy="434340"/>
          </a:xfrm>
          <a:prstGeom prst="rect">
            <a:avLst/>
          </a:prstGeom>
        </p:spPr>
        <p:txBody>
          <a:bodyPr anchor="t" rtlCol="false" tIns="0" lIns="0" bIns="0" rIns="0">
            <a:spAutoFit/>
          </a:bodyPr>
          <a:lstStyle/>
          <a:p>
            <a:pPr algn="l">
              <a:lnSpc>
                <a:spcPts val="1533"/>
              </a:lnSpc>
            </a:pPr>
            <a:r>
              <a:rPr lang="en-US" sz="966">
                <a:solidFill>
                  <a:srgbClr val="504C49"/>
                </a:solidFill>
                <a:latin typeface="Source Serif Pro"/>
                <a:ea typeface="Source Serif Pro"/>
                <a:cs typeface="Source Serif Pro"/>
                <a:sym typeface="Source Serif Pro"/>
              </a:rPr>
              <a:t>ensuring accuracy and reliability across various transaction scenarios.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sp>
        <p:nvSpPr>
          <p:cNvPr name="TextBox 6" id="6"/>
          <p:cNvSpPr txBox="true"/>
          <p:nvPr/>
        </p:nvSpPr>
        <p:spPr>
          <a:xfrm rot="0">
            <a:off x="529193" y="1104027"/>
            <a:ext cx="6652577" cy="441960"/>
          </a:xfrm>
          <a:prstGeom prst="rect">
            <a:avLst/>
          </a:prstGeom>
        </p:spPr>
        <p:txBody>
          <a:bodyPr anchor="t" rtlCol="false" tIns="0" lIns="0" bIns="0" rIns="0">
            <a:spAutoFit/>
          </a:bodyPr>
          <a:lstStyle/>
          <a:p>
            <a:pPr algn="l">
              <a:lnSpc>
                <a:spcPts val="3233"/>
              </a:lnSpc>
            </a:pPr>
            <a:r>
              <a:rPr lang="en-US" sz="2600" b="true">
                <a:solidFill>
                  <a:srgbClr val="201B18"/>
                </a:solidFill>
                <a:latin typeface="Arimo Bold"/>
                <a:ea typeface="Arimo Bold"/>
                <a:cs typeface="Arimo Bold"/>
                <a:sym typeface="Arimo Bold"/>
              </a:rPr>
              <a:t>Visual Demonstration of Implementing</a:t>
            </a:r>
          </a:p>
        </p:txBody>
      </p:sp>
      <p:grpSp>
        <p:nvGrpSpPr>
          <p:cNvPr name="Group 7" id="7"/>
          <p:cNvGrpSpPr>
            <a:grpSpLocks noChangeAspect="true"/>
          </p:cNvGrpSpPr>
          <p:nvPr/>
        </p:nvGrpSpPr>
        <p:grpSpPr>
          <a:xfrm rot="0">
            <a:off x="529193" y="1893253"/>
            <a:ext cx="4186237" cy="2877026"/>
            <a:chOff x="0" y="0"/>
            <a:chExt cx="5581650" cy="3836035"/>
          </a:xfrm>
        </p:grpSpPr>
        <p:sp>
          <p:nvSpPr>
            <p:cNvPr name="Freeform 8" id="8" descr="preencoded.png"/>
            <p:cNvSpPr/>
            <p:nvPr/>
          </p:nvSpPr>
          <p:spPr>
            <a:xfrm flipH="false" flipV="false" rot="0">
              <a:off x="0" y="0"/>
              <a:ext cx="5581650" cy="3836035"/>
            </a:xfrm>
            <a:custGeom>
              <a:avLst/>
              <a:gdLst/>
              <a:ahLst/>
              <a:cxnLst/>
              <a:rect r="r" b="b" t="t" l="l"/>
              <a:pathLst>
                <a:path h="3836035" w="5581650">
                  <a:moveTo>
                    <a:pt x="0" y="0"/>
                  </a:moveTo>
                  <a:lnTo>
                    <a:pt x="5581650" y="0"/>
                  </a:lnTo>
                  <a:lnTo>
                    <a:pt x="5581650" y="3836035"/>
                  </a:lnTo>
                  <a:lnTo>
                    <a:pt x="0" y="3836035"/>
                  </a:lnTo>
                  <a:lnTo>
                    <a:pt x="0" y="0"/>
                  </a:lnTo>
                  <a:close/>
                </a:path>
              </a:pathLst>
            </a:custGeom>
            <a:blipFill>
              <a:blip r:embed="rId3"/>
              <a:stretch>
                <a:fillRect l="-26" t="0" r="-26" b="0"/>
              </a:stretch>
            </a:blipFill>
          </p:spPr>
        </p:sp>
      </p:grpSp>
      <p:grpSp>
        <p:nvGrpSpPr>
          <p:cNvPr name="Group 9" id="9"/>
          <p:cNvGrpSpPr>
            <a:grpSpLocks noChangeAspect="true"/>
          </p:cNvGrpSpPr>
          <p:nvPr/>
        </p:nvGrpSpPr>
        <p:grpSpPr>
          <a:xfrm rot="0">
            <a:off x="5043249" y="2224008"/>
            <a:ext cx="4184809" cy="2579449"/>
            <a:chOff x="0" y="0"/>
            <a:chExt cx="5579745" cy="3439266"/>
          </a:xfrm>
        </p:grpSpPr>
        <p:sp>
          <p:nvSpPr>
            <p:cNvPr name="Freeform 10" id="10" descr="preencoded.png"/>
            <p:cNvSpPr/>
            <p:nvPr/>
          </p:nvSpPr>
          <p:spPr>
            <a:xfrm flipH="false" flipV="false" rot="0">
              <a:off x="0" y="0"/>
              <a:ext cx="5579745" cy="3439287"/>
            </a:xfrm>
            <a:custGeom>
              <a:avLst/>
              <a:gdLst/>
              <a:ahLst/>
              <a:cxnLst/>
              <a:rect r="r" b="b" t="t" l="l"/>
              <a:pathLst>
                <a:path h="3439287" w="5579745">
                  <a:moveTo>
                    <a:pt x="0" y="0"/>
                  </a:moveTo>
                  <a:lnTo>
                    <a:pt x="5579745" y="0"/>
                  </a:lnTo>
                  <a:lnTo>
                    <a:pt x="5579745" y="3439287"/>
                  </a:lnTo>
                  <a:lnTo>
                    <a:pt x="0" y="3439287"/>
                  </a:lnTo>
                  <a:lnTo>
                    <a:pt x="0" y="0"/>
                  </a:lnTo>
                  <a:close/>
                </a:path>
              </a:pathLst>
            </a:custGeom>
            <a:blipFill>
              <a:blip r:embed="rId4"/>
              <a:stretch>
                <a:fillRect l="0" t="-9" r="0" b="-9"/>
              </a:stretch>
            </a:blipFill>
          </p:spPr>
        </p:sp>
      </p:grpSp>
      <p:sp>
        <p:nvSpPr>
          <p:cNvPr name="TextBox 11" id="11"/>
          <p:cNvSpPr txBox="true"/>
          <p:nvPr/>
        </p:nvSpPr>
        <p:spPr>
          <a:xfrm rot="0">
            <a:off x="529193" y="5360591"/>
            <a:ext cx="8695214" cy="249793"/>
          </a:xfrm>
          <a:prstGeom prst="rect">
            <a:avLst/>
          </a:prstGeom>
        </p:spPr>
        <p:txBody>
          <a:bodyPr anchor="t" rtlCol="false" tIns="0" lIns="0" bIns="0" rIns="0">
            <a:spAutoFit/>
          </a:bodyPr>
          <a:lstStyle/>
          <a:p>
            <a:pPr algn="l">
              <a:lnSpc>
                <a:spcPts val="1666"/>
              </a:lnSpc>
            </a:pPr>
            <a:r>
              <a:rPr lang="en-US" sz="1033">
                <a:solidFill>
                  <a:srgbClr val="504C49"/>
                </a:solidFill>
                <a:latin typeface="Source Serif Pro"/>
                <a:ea typeface="Source Serif Pro"/>
                <a:cs typeface="Source Serif Pro"/>
                <a:sym typeface="Source Serif Pro"/>
              </a:rPr>
              <a:t>The 1st screenshot displays the Python-based ATM system in action, featuring a Tkinter GUI for login and transaction history.</a:t>
            </a:r>
          </a:p>
        </p:txBody>
      </p:sp>
      <p:sp>
        <p:nvSpPr>
          <p:cNvPr name="TextBox 12" id="12"/>
          <p:cNvSpPr txBox="true"/>
          <p:nvPr/>
        </p:nvSpPr>
        <p:spPr>
          <a:xfrm rot="0">
            <a:off x="529193" y="5721112"/>
            <a:ext cx="8695214" cy="461486"/>
          </a:xfrm>
          <a:prstGeom prst="rect">
            <a:avLst/>
          </a:prstGeom>
        </p:spPr>
        <p:txBody>
          <a:bodyPr anchor="t" rtlCol="false" tIns="0" lIns="0" bIns="0" rIns="0">
            <a:spAutoFit/>
          </a:bodyPr>
          <a:lstStyle/>
          <a:p>
            <a:pPr algn="l">
              <a:lnSpc>
                <a:spcPts val="1666"/>
              </a:lnSpc>
            </a:pPr>
            <a:r>
              <a:rPr lang="en-US" sz="1033">
                <a:solidFill>
                  <a:srgbClr val="504C49"/>
                </a:solidFill>
                <a:latin typeface="Source Serif Pro"/>
                <a:ea typeface="Source Serif Pro"/>
                <a:cs typeface="Source Serif Pro"/>
                <a:sym typeface="Source Serif Pro"/>
              </a:rPr>
              <a:t>The 2nd screenshot displays the internal structure of the ATM system’s SQLite database, highlighting the "Account" table. It stores user details including card number, PIN, name, balance, and account creation timestamp for secure transaction handling. - "atm.db" file.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sp>
        <p:nvSpPr>
          <p:cNvPr name="TextBox 6" id="6"/>
          <p:cNvSpPr txBox="true"/>
          <p:nvPr/>
        </p:nvSpPr>
        <p:spPr>
          <a:xfrm rot="0">
            <a:off x="529193" y="822563"/>
            <a:ext cx="3493135" cy="441960"/>
          </a:xfrm>
          <a:prstGeom prst="rect">
            <a:avLst/>
          </a:prstGeom>
        </p:spPr>
        <p:txBody>
          <a:bodyPr anchor="t" rtlCol="false" tIns="0" lIns="0" bIns="0" rIns="0">
            <a:spAutoFit/>
          </a:bodyPr>
          <a:lstStyle/>
          <a:p>
            <a:pPr algn="l">
              <a:lnSpc>
                <a:spcPts val="3233"/>
              </a:lnSpc>
            </a:pPr>
            <a:r>
              <a:rPr lang="en-US" sz="2600" b="true">
                <a:solidFill>
                  <a:srgbClr val="201B18"/>
                </a:solidFill>
                <a:latin typeface="Arimo Bold"/>
                <a:ea typeface="Arimo Bold"/>
                <a:cs typeface="Arimo Bold"/>
                <a:sym typeface="Arimo Bold"/>
              </a:rPr>
              <a:t>Results and Analysis</a:t>
            </a:r>
          </a:p>
        </p:txBody>
      </p:sp>
      <p:sp>
        <p:nvSpPr>
          <p:cNvPr name="TextBox 7" id="7"/>
          <p:cNvSpPr txBox="true"/>
          <p:nvPr/>
        </p:nvSpPr>
        <p:spPr>
          <a:xfrm rot="0">
            <a:off x="529193" y="1481455"/>
            <a:ext cx="8695214" cy="576898"/>
          </a:xfrm>
          <a:prstGeom prst="rect">
            <a:avLst/>
          </a:prstGeom>
        </p:spPr>
        <p:txBody>
          <a:bodyPr anchor="t" rtlCol="false" tIns="0" lIns="0" bIns="0" rIns="0">
            <a:spAutoFit/>
          </a:bodyPr>
          <a:lstStyle/>
          <a:p>
            <a:pPr algn="l">
              <a:lnSpc>
                <a:spcPts val="2066"/>
              </a:lnSpc>
            </a:pPr>
            <a:r>
              <a:rPr lang="en-US" sz="1300">
                <a:solidFill>
                  <a:srgbClr val="504C49"/>
                </a:solidFill>
                <a:latin typeface="Source Serif Pro"/>
                <a:ea typeface="Source Serif Pro"/>
                <a:cs typeface="Source Serif Pro"/>
                <a:sym typeface="Source Serif Pro"/>
              </a:rPr>
              <a:t>The project successfully culminated in a functional ATM simulation, demonstrating a robust GUI and a reliable backend. Key achievements include seamless operation of banking tasks and comprehensive error handling.</a:t>
            </a:r>
          </a:p>
        </p:txBody>
      </p:sp>
      <p:grpSp>
        <p:nvGrpSpPr>
          <p:cNvPr name="Group 8" id="8"/>
          <p:cNvGrpSpPr>
            <a:grpSpLocks noChangeAspect="true"/>
          </p:cNvGrpSpPr>
          <p:nvPr/>
        </p:nvGrpSpPr>
        <p:grpSpPr>
          <a:xfrm rot="0">
            <a:off x="529193" y="2356009"/>
            <a:ext cx="4186237" cy="3277870"/>
            <a:chOff x="0" y="0"/>
            <a:chExt cx="5581650" cy="4370493"/>
          </a:xfrm>
        </p:grpSpPr>
        <p:sp>
          <p:nvSpPr>
            <p:cNvPr name="Freeform 9" id="9" descr="preencoded.png"/>
            <p:cNvSpPr/>
            <p:nvPr/>
          </p:nvSpPr>
          <p:spPr>
            <a:xfrm flipH="false" flipV="false" rot="0">
              <a:off x="0" y="0"/>
              <a:ext cx="5581650" cy="4370451"/>
            </a:xfrm>
            <a:custGeom>
              <a:avLst/>
              <a:gdLst/>
              <a:ahLst/>
              <a:cxnLst/>
              <a:rect r="r" b="b" t="t" l="l"/>
              <a:pathLst>
                <a:path h="4370451" w="5581650">
                  <a:moveTo>
                    <a:pt x="0" y="0"/>
                  </a:moveTo>
                  <a:lnTo>
                    <a:pt x="5581650" y="0"/>
                  </a:lnTo>
                  <a:lnTo>
                    <a:pt x="5581650" y="4370451"/>
                  </a:lnTo>
                  <a:lnTo>
                    <a:pt x="0" y="4370451"/>
                  </a:lnTo>
                  <a:lnTo>
                    <a:pt x="0" y="0"/>
                  </a:lnTo>
                  <a:close/>
                </a:path>
              </a:pathLst>
            </a:custGeom>
            <a:blipFill>
              <a:blip r:embed="rId3"/>
              <a:stretch>
                <a:fillRect l="-15" t="0" r="-15" b="0"/>
              </a:stretch>
            </a:blipFill>
          </p:spPr>
        </p:sp>
      </p:grpSp>
      <p:sp>
        <p:nvSpPr>
          <p:cNvPr name="TextBox 10" id="10"/>
          <p:cNvSpPr txBox="true"/>
          <p:nvPr/>
        </p:nvSpPr>
        <p:spPr>
          <a:xfrm rot="0">
            <a:off x="529193" y="5744607"/>
            <a:ext cx="4186237" cy="673179"/>
          </a:xfrm>
          <a:prstGeom prst="rect">
            <a:avLst/>
          </a:prstGeom>
        </p:spPr>
        <p:txBody>
          <a:bodyPr anchor="t" rtlCol="false" tIns="0" lIns="0" bIns="0" rIns="0">
            <a:spAutoFit/>
          </a:bodyPr>
          <a:lstStyle/>
          <a:p>
            <a:pPr algn="l" marL="83114" indent="-41557" lvl="1">
              <a:lnSpc>
                <a:spcPts val="1666"/>
              </a:lnSpc>
              <a:buFont typeface="Arial"/>
              <a:buChar char="•"/>
            </a:pPr>
            <a:r>
              <a:rPr lang="en-US" sz="1033">
                <a:solidFill>
                  <a:srgbClr val="504C49"/>
                </a:solidFill>
                <a:latin typeface="Source Serif Pro"/>
                <a:ea typeface="Source Serif Pro"/>
                <a:cs typeface="Source Serif Pro"/>
                <a:sym typeface="Source Serif Pro"/>
              </a:rPr>
              <a:t>The login screen allows users to access the ATM system using demo card numbers and PINs. It also provides access to login/logout history.</a:t>
            </a:r>
          </a:p>
        </p:txBody>
      </p:sp>
      <p:sp>
        <p:nvSpPr>
          <p:cNvPr name="TextBox 11" id="11"/>
          <p:cNvSpPr txBox="true"/>
          <p:nvPr/>
        </p:nvSpPr>
        <p:spPr>
          <a:xfrm rot="0">
            <a:off x="5043249" y="2310844"/>
            <a:ext cx="1984693" cy="276622"/>
          </a:xfrm>
          <a:prstGeom prst="rect">
            <a:avLst/>
          </a:prstGeom>
        </p:spPr>
        <p:txBody>
          <a:bodyPr anchor="t" rtlCol="false" tIns="0" lIns="0" bIns="0" rIns="0">
            <a:spAutoFit/>
          </a:bodyPr>
          <a:lstStyle/>
          <a:p>
            <a:pPr algn="l">
              <a:lnSpc>
                <a:spcPts val="1933"/>
              </a:lnSpc>
            </a:pPr>
            <a:r>
              <a:rPr lang="en-US" sz="1533">
                <a:solidFill>
                  <a:srgbClr val="201B18"/>
                </a:solidFill>
                <a:latin typeface="Arimo"/>
                <a:ea typeface="Arimo"/>
                <a:cs typeface="Arimo"/>
                <a:sym typeface="Arimo"/>
              </a:rPr>
              <a:t>Key Achievements</a:t>
            </a:r>
          </a:p>
        </p:txBody>
      </p:sp>
      <p:sp>
        <p:nvSpPr>
          <p:cNvPr name="TextBox 12" id="12"/>
          <p:cNvSpPr txBox="true"/>
          <p:nvPr/>
        </p:nvSpPr>
        <p:spPr>
          <a:xfrm rot="0">
            <a:off x="5043249" y="2681605"/>
            <a:ext cx="4186237" cy="461486"/>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Operational GUI:</a:t>
            </a:r>
            <a:r>
              <a:rPr lang="en-US" sz="1033">
                <a:solidFill>
                  <a:srgbClr val="504C49"/>
                </a:solidFill>
                <a:latin typeface="Source Serif Pro"/>
                <a:ea typeface="Source Serif Pro"/>
                <a:cs typeface="Source Serif Pro"/>
                <a:sym typeface="Source Serif Pro"/>
              </a:rPr>
              <a:t> All ATM operations are fully functional through the graphical interface.</a:t>
            </a:r>
          </a:p>
        </p:txBody>
      </p:sp>
      <p:sp>
        <p:nvSpPr>
          <p:cNvPr name="TextBox 13" id="13"/>
          <p:cNvSpPr txBox="true"/>
          <p:nvPr/>
        </p:nvSpPr>
        <p:spPr>
          <a:xfrm rot="0">
            <a:off x="5043249" y="3151267"/>
            <a:ext cx="4186237" cy="461486"/>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Accountability:</a:t>
            </a:r>
            <a:r>
              <a:rPr lang="en-US" sz="1033">
                <a:solidFill>
                  <a:srgbClr val="504C49"/>
                </a:solidFill>
                <a:latin typeface="Source Serif Pro"/>
                <a:ea typeface="Source Serif Pro"/>
                <a:cs typeface="Source Serif Pro"/>
                <a:sym typeface="Source Serif Pro"/>
              </a:rPr>
              <a:t> Login/logout tracking provides a clear audit trail.</a:t>
            </a:r>
          </a:p>
        </p:txBody>
      </p:sp>
      <p:sp>
        <p:nvSpPr>
          <p:cNvPr name="TextBox 14" id="14"/>
          <p:cNvSpPr txBox="true"/>
          <p:nvPr/>
        </p:nvSpPr>
        <p:spPr>
          <a:xfrm rot="0">
            <a:off x="5043249" y="3620929"/>
            <a:ext cx="4186237" cy="461486"/>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Detailed History:</a:t>
            </a:r>
            <a:r>
              <a:rPr lang="en-US" sz="1033">
                <a:solidFill>
                  <a:srgbClr val="504C49"/>
                </a:solidFill>
                <a:latin typeface="Source Serif Pro"/>
                <a:ea typeface="Source Serif Pro"/>
                <a:cs typeface="Source Serif Pro"/>
                <a:sym typeface="Source Serif Pro"/>
              </a:rPr>
              <a:t> Transaction history is clearly displayed in a scrollable window.</a:t>
            </a:r>
          </a:p>
        </p:txBody>
      </p:sp>
      <p:sp>
        <p:nvSpPr>
          <p:cNvPr name="TextBox 15" id="15"/>
          <p:cNvSpPr txBox="true"/>
          <p:nvPr/>
        </p:nvSpPr>
        <p:spPr>
          <a:xfrm rot="0">
            <a:off x="5043249" y="4186079"/>
            <a:ext cx="2188925" cy="276622"/>
          </a:xfrm>
          <a:prstGeom prst="rect">
            <a:avLst/>
          </a:prstGeom>
        </p:spPr>
        <p:txBody>
          <a:bodyPr anchor="t" rtlCol="false" tIns="0" lIns="0" bIns="0" rIns="0">
            <a:spAutoFit/>
          </a:bodyPr>
          <a:lstStyle/>
          <a:p>
            <a:pPr algn="l">
              <a:lnSpc>
                <a:spcPts val="1933"/>
              </a:lnSpc>
            </a:pPr>
            <a:r>
              <a:rPr lang="en-US" sz="1533">
                <a:solidFill>
                  <a:srgbClr val="201B18"/>
                </a:solidFill>
                <a:latin typeface="Arimo"/>
                <a:ea typeface="Arimo"/>
                <a:cs typeface="Arimo"/>
                <a:sym typeface="Arimo"/>
              </a:rPr>
              <a:t>Robust Error Handling</a:t>
            </a:r>
          </a:p>
        </p:txBody>
      </p:sp>
      <p:sp>
        <p:nvSpPr>
          <p:cNvPr name="TextBox 16" id="16"/>
          <p:cNvSpPr txBox="true"/>
          <p:nvPr/>
        </p:nvSpPr>
        <p:spPr>
          <a:xfrm rot="0">
            <a:off x="5043249" y="4556839"/>
            <a:ext cx="4186237" cy="249793"/>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Authentication:</a:t>
            </a:r>
            <a:r>
              <a:rPr lang="en-US" sz="1033">
                <a:solidFill>
                  <a:srgbClr val="504C49"/>
                </a:solidFill>
                <a:latin typeface="Source Serif Pro"/>
                <a:ea typeface="Source Serif Pro"/>
                <a:cs typeface="Source Serif Pro"/>
                <a:sym typeface="Source Serif Pro"/>
              </a:rPr>
              <a:t> Handles invalid card/PIN attempts.</a:t>
            </a:r>
          </a:p>
        </p:txBody>
      </p:sp>
      <p:sp>
        <p:nvSpPr>
          <p:cNvPr name="TextBox 17" id="17"/>
          <p:cNvSpPr txBox="true"/>
          <p:nvPr/>
        </p:nvSpPr>
        <p:spPr>
          <a:xfrm rot="0">
            <a:off x="5043249" y="4814808"/>
            <a:ext cx="4186237" cy="461486"/>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Financial Integrity:</a:t>
            </a:r>
            <a:r>
              <a:rPr lang="en-US" sz="1033">
                <a:solidFill>
                  <a:srgbClr val="504C49"/>
                </a:solidFill>
                <a:latin typeface="Source Serif Pro"/>
                <a:ea typeface="Source Serif Pro"/>
                <a:cs typeface="Source Serif Pro"/>
                <a:sym typeface="Source Serif Pro"/>
              </a:rPr>
              <a:t> Prevents transactions with insufficient balance or invalid amounts.</a:t>
            </a:r>
          </a:p>
        </p:txBody>
      </p:sp>
      <p:sp>
        <p:nvSpPr>
          <p:cNvPr name="TextBox 18" id="18"/>
          <p:cNvSpPr txBox="true"/>
          <p:nvPr/>
        </p:nvSpPr>
        <p:spPr>
          <a:xfrm rot="0">
            <a:off x="5043249" y="5284470"/>
            <a:ext cx="4186237" cy="249793"/>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Validation:</a:t>
            </a:r>
            <a:r>
              <a:rPr lang="en-US" sz="1033">
                <a:solidFill>
                  <a:srgbClr val="504C49"/>
                </a:solidFill>
                <a:latin typeface="Source Serif Pro"/>
                <a:ea typeface="Source Serif Pro"/>
                <a:cs typeface="Source Serif Pro"/>
                <a:sym typeface="Source Serif Pro"/>
              </a:rPr>
              <a:t> Ensures all inputs are valid before processing.</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sp>
        <p:nvSpPr>
          <p:cNvPr name="TextBox 6" id="6"/>
          <p:cNvSpPr txBox="true"/>
          <p:nvPr/>
        </p:nvSpPr>
        <p:spPr>
          <a:xfrm rot="0">
            <a:off x="527050" y="333772"/>
            <a:ext cx="5472113" cy="440293"/>
          </a:xfrm>
          <a:prstGeom prst="rect">
            <a:avLst/>
          </a:prstGeom>
        </p:spPr>
        <p:txBody>
          <a:bodyPr anchor="t" rtlCol="false" tIns="0" lIns="0" bIns="0" rIns="0">
            <a:spAutoFit/>
          </a:bodyPr>
          <a:lstStyle/>
          <a:p>
            <a:pPr algn="l">
              <a:lnSpc>
                <a:spcPts val="3233"/>
              </a:lnSpc>
            </a:pPr>
            <a:r>
              <a:rPr lang="en-US" sz="2566" b="true">
                <a:solidFill>
                  <a:srgbClr val="201B18"/>
                </a:solidFill>
                <a:latin typeface="Arimo Bold"/>
                <a:ea typeface="Arimo Bold"/>
                <a:cs typeface="Arimo Bold"/>
                <a:sym typeface="Arimo Bold"/>
              </a:rPr>
              <a:t>Visual Demonstration of Output</a:t>
            </a:r>
          </a:p>
        </p:txBody>
      </p:sp>
      <p:grpSp>
        <p:nvGrpSpPr>
          <p:cNvPr name="Group 7" id="7"/>
          <p:cNvGrpSpPr>
            <a:grpSpLocks noChangeAspect="true"/>
          </p:cNvGrpSpPr>
          <p:nvPr/>
        </p:nvGrpSpPr>
        <p:grpSpPr>
          <a:xfrm rot="0">
            <a:off x="527050" y="1449308"/>
            <a:ext cx="4182665" cy="3030855"/>
            <a:chOff x="0" y="0"/>
            <a:chExt cx="5576887" cy="4041140"/>
          </a:xfrm>
        </p:grpSpPr>
        <p:sp>
          <p:nvSpPr>
            <p:cNvPr name="Freeform 8" id="8" descr="preencoded.png"/>
            <p:cNvSpPr/>
            <p:nvPr/>
          </p:nvSpPr>
          <p:spPr>
            <a:xfrm flipH="false" flipV="false" rot="0">
              <a:off x="0" y="0"/>
              <a:ext cx="5576824" cy="4041140"/>
            </a:xfrm>
            <a:custGeom>
              <a:avLst/>
              <a:gdLst/>
              <a:ahLst/>
              <a:cxnLst/>
              <a:rect r="r" b="b" t="t" l="l"/>
              <a:pathLst>
                <a:path h="4041140" w="5576824">
                  <a:moveTo>
                    <a:pt x="0" y="0"/>
                  </a:moveTo>
                  <a:lnTo>
                    <a:pt x="5576824" y="0"/>
                  </a:lnTo>
                  <a:lnTo>
                    <a:pt x="5576824" y="4041140"/>
                  </a:lnTo>
                  <a:lnTo>
                    <a:pt x="0" y="4041140"/>
                  </a:lnTo>
                  <a:lnTo>
                    <a:pt x="0" y="0"/>
                  </a:lnTo>
                  <a:close/>
                </a:path>
              </a:pathLst>
            </a:custGeom>
            <a:blipFill>
              <a:blip r:embed="rId3"/>
              <a:stretch>
                <a:fillRect l="0" t="-53" r="-1" b="-53"/>
              </a:stretch>
            </a:blipFill>
          </p:spPr>
        </p:sp>
      </p:grpSp>
      <p:grpSp>
        <p:nvGrpSpPr>
          <p:cNvPr name="Group 9" id="9"/>
          <p:cNvGrpSpPr>
            <a:grpSpLocks noChangeAspect="true"/>
          </p:cNvGrpSpPr>
          <p:nvPr/>
        </p:nvGrpSpPr>
        <p:grpSpPr>
          <a:xfrm rot="0">
            <a:off x="5036265" y="1449308"/>
            <a:ext cx="4195286" cy="3089910"/>
            <a:chOff x="0" y="0"/>
            <a:chExt cx="5593715" cy="4119880"/>
          </a:xfrm>
        </p:grpSpPr>
        <p:sp>
          <p:nvSpPr>
            <p:cNvPr name="Freeform 10" id="10" descr="preencoded.png"/>
            <p:cNvSpPr/>
            <p:nvPr/>
          </p:nvSpPr>
          <p:spPr>
            <a:xfrm flipH="false" flipV="false" rot="0">
              <a:off x="0" y="0"/>
              <a:ext cx="5593715" cy="4119880"/>
            </a:xfrm>
            <a:custGeom>
              <a:avLst/>
              <a:gdLst/>
              <a:ahLst/>
              <a:cxnLst/>
              <a:rect r="r" b="b" t="t" l="l"/>
              <a:pathLst>
                <a:path h="4119880" w="5593715">
                  <a:moveTo>
                    <a:pt x="0" y="0"/>
                  </a:moveTo>
                  <a:lnTo>
                    <a:pt x="5593715" y="0"/>
                  </a:lnTo>
                  <a:lnTo>
                    <a:pt x="5593715" y="4119880"/>
                  </a:lnTo>
                  <a:lnTo>
                    <a:pt x="0" y="4119880"/>
                  </a:lnTo>
                  <a:lnTo>
                    <a:pt x="0" y="0"/>
                  </a:lnTo>
                  <a:close/>
                </a:path>
              </a:pathLst>
            </a:custGeom>
            <a:blipFill>
              <a:blip r:embed="rId4"/>
              <a:stretch>
                <a:fillRect l="-30" t="0" r="-30" b="0"/>
              </a:stretch>
            </a:blipFill>
          </p:spPr>
        </p:sp>
      </p:grpSp>
      <p:sp>
        <p:nvSpPr>
          <p:cNvPr name="TextBox 11" id="11"/>
          <p:cNvSpPr txBox="true"/>
          <p:nvPr/>
        </p:nvSpPr>
        <p:spPr>
          <a:xfrm rot="0">
            <a:off x="527050" y="5209223"/>
            <a:ext cx="8699500" cy="828675"/>
          </a:xfrm>
          <a:prstGeom prst="rect">
            <a:avLst/>
          </a:prstGeom>
        </p:spPr>
        <p:txBody>
          <a:bodyPr anchor="t" rtlCol="false" tIns="0" lIns="0" bIns="0" rIns="0">
            <a:spAutoFit/>
          </a:bodyPr>
          <a:lstStyle/>
          <a:p>
            <a:pPr algn="l" marL="83114" indent="-41557" lvl="1">
              <a:lnSpc>
                <a:spcPts val="1633"/>
              </a:lnSpc>
              <a:buFont typeface="Arial"/>
              <a:buChar char="•"/>
            </a:pPr>
            <a:r>
              <a:rPr lang="en-US" b="true" sz="1033">
                <a:solidFill>
                  <a:srgbClr val="504C49"/>
                </a:solidFill>
                <a:latin typeface="Source Serif Pro Bold"/>
                <a:ea typeface="Source Serif Pro Bold"/>
                <a:cs typeface="Source Serif Pro Bold"/>
                <a:sym typeface="Source Serif Pro Bold"/>
              </a:rPr>
              <a:t>The 1st screenshot showcases the ATM system’s main dashboard and transaction history for user Anamul Haque. It demonstrates real-time balance updates and a clear log of deposits and withdrawals with timestamps.</a:t>
            </a:r>
          </a:p>
        </p:txBody>
      </p:sp>
      <p:sp>
        <p:nvSpPr>
          <p:cNvPr name="TextBox 12" id="12"/>
          <p:cNvSpPr txBox="true"/>
          <p:nvPr/>
        </p:nvSpPr>
        <p:spPr>
          <a:xfrm rot="0">
            <a:off x="527050" y="6045915"/>
            <a:ext cx="8699500" cy="565150"/>
          </a:xfrm>
          <a:prstGeom prst="rect">
            <a:avLst/>
          </a:prstGeom>
        </p:spPr>
        <p:txBody>
          <a:bodyPr anchor="t" rtlCol="false" tIns="0" lIns="0" bIns="0" rIns="0">
            <a:spAutoFit/>
          </a:bodyPr>
          <a:lstStyle/>
          <a:p>
            <a:pPr algn="l" marL="83114" indent="-41557" lvl="1">
              <a:lnSpc>
                <a:spcPts val="1633"/>
              </a:lnSpc>
              <a:buFont typeface="Arial"/>
              <a:buChar char="•"/>
            </a:pPr>
            <a:r>
              <a:rPr lang="en-US" b="true" sz="1033">
                <a:solidFill>
                  <a:srgbClr val="504C49"/>
                </a:solidFill>
                <a:latin typeface="Source Serif Pro Bold"/>
                <a:ea typeface="Source Serif Pro Bold"/>
                <a:cs typeface="Source Serif Pro Bold"/>
                <a:sym typeface="Source Serif Pro Bold"/>
              </a:rPr>
              <a:t>The 2nd one displays detailed login and logout records for each user, including timestamps and card numbers.</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sp>
        <p:nvSpPr>
          <p:cNvPr name="TextBox 6" id="6"/>
          <p:cNvSpPr txBox="true"/>
          <p:nvPr/>
        </p:nvSpPr>
        <p:spPr>
          <a:xfrm rot="0">
            <a:off x="529193" y="1522333"/>
            <a:ext cx="4465558" cy="441960"/>
          </a:xfrm>
          <a:prstGeom prst="rect">
            <a:avLst/>
          </a:prstGeom>
        </p:spPr>
        <p:txBody>
          <a:bodyPr anchor="t" rtlCol="false" tIns="0" lIns="0" bIns="0" rIns="0">
            <a:spAutoFit/>
          </a:bodyPr>
          <a:lstStyle/>
          <a:p>
            <a:pPr algn="l">
              <a:lnSpc>
                <a:spcPts val="3233"/>
              </a:lnSpc>
            </a:pPr>
            <a:r>
              <a:rPr lang="en-US" sz="2600">
                <a:solidFill>
                  <a:srgbClr val="201B18"/>
                </a:solidFill>
                <a:latin typeface="Arimo"/>
                <a:ea typeface="Arimo"/>
                <a:cs typeface="Arimo"/>
                <a:sym typeface="Arimo"/>
              </a:rPr>
              <a:t>Conclusion &amp; Future Works</a:t>
            </a:r>
          </a:p>
        </p:txBody>
      </p:sp>
      <p:sp>
        <p:nvSpPr>
          <p:cNvPr name="TextBox 7" id="7"/>
          <p:cNvSpPr txBox="true"/>
          <p:nvPr/>
        </p:nvSpPr>
        <p:spPr>
          <a:xfrm rot="0">
            <a:off x="529193" y="2181225"/>
            <a:ext cx="8695214" cy="576898"/>
          </a:xfrm>
          <a:prstGeom prst="rect">
            <a:avLst/>
          </a:prstGeom>
        </p:spPr>
        <p:txBody>
          <a:bodyPr anchor="t" rtlCol="false" tIns="0" lIns="0" bIns="0" rIns="0">
            <a:spAutoFit/>
          </a:bodyPr>
          <a:lstStyle/>
          <a:p>
            <a:pPr algn="l">
              <a:lnSpc>
                <a:spcPts val="2066"/>
              </a:lnSpc>
            </a:pPr>
            <a:r>
              <a:rPr lang="en-US" sz="1300">
                <a:solidFill>
                  <a:srgbClr val="504C49"/>
                </a:solidFill>
                <a:latin typeface="Source Serif Pro"/>
                <a:ea typeface="Source Serif Pro"/>
                <a:cs typeface="Source Serif Pro"/>
                <a:sym typeface="Source Serif Pro"/>
              </a:rPr>
              <a:t>This project has laid a solid foundation for understanding and implementing a banking system. While successful, it also opens doors for significant enhancements and further development.</a:t>
            </a:r>
          </a:p>
        </p:txBody>
      </p:sp>
      <p:grpSp>
        <p:nvGrpSpPr>
          <p:cNvPr name="Group 8" id="8"/>
          <p:cNvGrpSpPr/>
          <p:nvPr/>
        </p:nvGrpSpPr>
        <p:grpSpPr>
          <a:xfrm rot="0">
            <a:off x="628412" y="2906951"/>
            <a:ext cx="15240" cy="2857341"/>
            <a:chOff x="0" y="0"/>
            <a:chExt cx="20320" cy="3809788"/>
          </a:xfrm>
        </p:grpSpPr>
        <p:sp>
          <p:nvSpPr>
            <p:cNvPr name="Freeform 9" id="9"/>
            <p:cNvSpPr/>
            <p:nvPr/>
          </p:nvSpPr>
          <p:spPr>
            <a:xfrm flipH="false" flipV="false" rot="0">
              <a:off x="0" y="0"/>
              <a:ext cx="20320" cy="3809746"/>
            </a:xfrm>
            <a:custGeom>
              <a:avLst/>
              <a:gdLst/>
              <a:ahLst/>
              <a:cxnLst/>
              <a:rect r="r" b="b" t="t" l="l"/>
              <a:pathLst>
                <a:path h="3809746" w="20320">
                  <a:moveTo>
                    <a:pt x="0" y="10160"/>
                  </a:moveTo>
                  <a:cubicBezTo>
                    <a:pt x="0" y="4572"/>
                    <a:pt x="4572" y="0"/>
                    <a:pt x="10160" y="0"/>
                  </a:cubicBezTo>
                  <a:cubicBezTo>
                    <a:pt x="15748" y="0"/>
                    <a:pt x="20320" y="4572"/>
                    <a:pt x="20320" y="10160"/>
                  </a:cubicBezTo>
                  <a:lnTo>
                    <a:pt x="20320" y="3799586"/>
                  </a:lnTo>
                  <a:cubicBezTo>
                    <a:pt x="20320" y="3805174"/>
                    <a:pt x="15748" y="3809746"/>
                    <a:pt x="10160" y="3809746"/>
                  </a:cubicBezTo>
                  <a:cubicBezTo>
                    <a:pt x="4572" y="3809746"/>
                    <a:pt x="0" y="3805174"/>
                    <a:pt x="0" y="3799586"/>
                  </a:cubicBezTo>
                  <a:close/>
                </a:path>
              </a:pathLst>
            </a:custGeom>
            <a:solidFill>
              <a:srgbClr val="D8D4D4"/>
            </a:solidFill>
            <a:ln w="12700">
              <a:solidFill>
                <a:srgbClr val="000000"/>
              </a:solidFill>
            </a:ln>
          </p:spPr>
        </p:sp>
      </p:grpSp>
      <p:grpSp>
        <p:nvGrpSpPr>
          <p:cNvPr name="Group 10" id="10"/>
          <p:cNvGrpSpPr/>
          <p:nvPr/>
        </p:nvGrpSpPr>
        <p:grpSpPr>
          <a:xfrm rot="0">
            <a:off x="613172" y="3406934"/>
            <a:ext cx="396875" cy="15240"/>
            <a:chOff x="0" y="0"/>
            <a:chExt cx="529167" cy="20320"/>
          </a:xfrm>
        </p:grpSpPr>
        <p:sp>
          <p:nvSpPr>
            <p:cNvPr name="Freeform 11" id="11"/>
            <p:cNvSpPr/>
            <p:nvPr/>
          </p:nvSpPr>
          <p:spPr>
            <a:xfrm flipH="false" flipV="false" rot="0">
              <a:off x="0" y="0"/>
              <a:ext cx="529209" cy="20320"/>
            </a:xfrm>
            <a:custGeom>
              <a:avLst/>
              <a:gdLst/>
              <a:ahLst/>
              <a:cxnLst/>
              <a:rect r="r" b="b" t="t" l="l"/>
              <a:pathLst>
                <a:path h="20320" w="529209">
                  <a:moveTo>
                    <a:pt x="0" y="10160"/>
                  </a:moveTo>
                  <a:cubicBezTo>
                    <a:pt x="0" y="4572"/>
                    <a:pt x="4572" y="0"/>
                    <a:pt x="10160" y="0"/>
                  </a:cubicBezTo>
                  <a:lnTo>
                    <a:pt x="519049" y="0"/>
                  </a:lnTo>
                  <a:cubicBezTo>
                    <a:pt x="524637" y="0"/>
                    <a:pt x="529209" y="4572"/>
                    <a:pt x="529209" y="10160"/>
                  </a:cubicBezTo>
                  <a:cubicBezTo>
                    <a:pt x="529209" y="15748"/>
                    <a:pt x="524637" y="20320"/>
                    <a:pt x="519049"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12" id="12"/>
          <p:cNvGrpSpPr/>
          <p:nvPr/>
        </p:nvGrpSpPr>
        <p:grpSpPr>
          <a:xfrm rot="0">
            <a:off x="578803" y="3364945"/>
            <a:ext cx="99219" cy="99219"/>
            <a:chOff x="0" y="0"/>
            <a:chExt cx="132292" cy="132292"/>
          </a:xfrm>
        </p:grpSpPr>
        <p:sp>
          <p:nvSpPr>
            <p:cNvPr name="Freeform 13" id="13"/>
            <p:cNvSpPr/>
            <p:nvPr/>
          </p:nvSpPr>
          <p:spPr>
            <a:xfrm flipH="false" flipV="false" rot="0">
              <a:off x="0" y="0"/>
              <a:ext cx="132334" cy="132334"/>
            </a:xfrm>
            <a:custGeom>
              <a:avLst/>
              <a:gdLst/>
              <a:ahLst/>
              <a:cxnLst/>
              <a:rect r="r" b="b" t="t" l="l"/>
              <a:pathLst>
                <a:path h="132334" w="132334">
                  <a:moveTo>
                    <a:pt x="0" y="66167"/>
                  </a:moveTo>
                  <a:cubicBezTo>
                    <a:pt x="0" y="29591"/>
                    <a:pt x="29591" y="0"/>
                    <a:pt x="66167" y="0"/>
                  </a:cubicBezTo>
                  <a:cubicBezTo>
                    <a:pt x="102743" y="0"/>
                    <a:pt x="132334" y="29591"/>
                    <a:pt x="132334" y="66167"/>
                  </a:cubicBezTo>
                  <a:cubicBezTo>
                    <a:pt x="132334" y="102743"/>
                    <a:pt x="102743" y="132334"/>
                    <a:pt x="66167" y="132334"/>
                  </a:cubicBezTo>
                  <a:cubicBezTo>
                    <a:pt x="29591" y="132334"/>
                    <a:pt x="0" y="102616"/>
                    <a:pt x="0" y="66167"/>
                  </a:cubicBezTo>
                  <a:close/>
                </a:path>
              </a:pathLst>
            </a:custGeom>
            <a:solidFill>
              <a:srgbClr val="3E2513"/>
            </a:solidFill>
            <a:ln w="12700">
              <a:solidFill>
                <a:srgbClr val="000000"/>
              </a:solidFill>
            </a:ln>
          </p:spPr>
        </p:sp>
      </p:grpSp>
      <p:grpSp>
        <p:nvGrpSpPr>
          <p:cNvPr name="Group 14" id="14"/>
          <p:cNvGrpSpPr/>
          <p:nvPr/>
        </p:nvGrpSpPr>
        <p:grpSpPr>
          <a:xfrm rot="0">
            <a:off x="1025366" y="2906951"/>
            <a:ext cx="8199041" cy="1015285"/>
            <a:chOff x="0" y="0"/>
            <a:chExt cx="10932054" cy="1353714"/>
          </a:xfrm>
        </p:grpSpPr>
        <p:sp>
          <p:nvSpPr>
            <p:cNvPr name="Freeform 15" id="15"/>
            <p:cNvSpPr/>
            <p:nvPr/>
          </p:nvSpPr>
          <p:spPr>
            <a:xfrm flipH="false" flipV="false" rot="0">
              <a:off x="0" y="0"/>
              <a:ext cx="10932033" cy="1353693"/>
            </a:xfrm>
            <a:custGeom>
              <a:avLst/>
              <a:gdLst/>
              <a:ahLst/>
              <a:cxnLst/>
              <a:rect r="r" b="b" t="t" l="l"/>
              <a:pathLst>
                <a:path h="1353693" w="10932033">
                  <a:moveTo>
                    <a:pt x="0" y="26416"/>
                  </a:moveTo>
                  <a:cubicBezTo>
                    <a:pt x="0" y="11811"/>
                    <a:pt x="11811" y="0"/>
                    <a:pt x="26416" y="0"/>
                  </a:cubicBezTo>
                  <a:lnTo>
                    <a:pt x="10905617" y="0"/>
                  </a:lnTo>
                  <a:cubicBezTo>
                    <a:pt x="10920223" y="0"/>
                    <a:pt x="10932033" y="11811"/>
                    <a:pt x="10932033" y="26416"/>
                  </a:cubicBezTo>
                  <a:lnTo>
                    <a:pt x="10932033" y="1327277"/>
                  </a:lnTo>
                  <a:cubicBezTo>
                    <a:pt x="10932033" y="1341882"/>
                    <a:pt x="10920223" y="1353693"/>
                    <a:pt x="10905617" y="1353693"/>
                  </a:cubicBezTo>
                  <a:lnTo>
                    <a:pt x="26416" y="1353693"/>
                  </a:lnTo>
                  <a:cubicBezTo>
                    <a:pt x="11811" y="1353693"/>
                    <a:pt x="0" y="1341882"/>
                    <a:pt x="0" y="1327277"/>
                  </a:cubicBezTo>
                  <a:close/>
                </a:path>
              </a:pathLst>
            </a:custGeom>
            <a:solidFill>
              <a:srgbClr val="F9F7F7"/>
            </a:solidFill>
            <a:ln w="12700">
              <a:solidFill>
                <a:srgbClr val="000000"/>
              </a:solidFill>
            </a:ln>
          </p:spPr>
        </p:sp>
      </p:grpSp>
      <p:sp>
        <p:nvSpPr>
          <p:cNvPr name="TextBox 16" id="16"/>
          <p:cNvSpPr txBox="true"/>
          <p:nvPr/>
        </p:nvSpPr>
        <p:spPr>
          <a:xfrm rot="0">
            <a:off x="1157605" y="3010614"/>
            <a:ext cx="1984693" cy="276622"/>
          </a:xfrm>
          <a:prstGeom prst="rect">
            <a:avLst/>
          </a:prstGeom>
        </p:spPr>
        <p:txBody>
          <a:bodyPr anchor="t" rtlCol="false" tIns="0" lIns="0" bIns="0" rIns="0">
            <a:spAutoFit/>
          </a:bodyPr>
          <a:lstStyle/>
          <a:p>
            <a:pPr algn="l">
              <a:lnSpc>
                <a:spcPts val="1933"/>
              </a:lnSpc>
            </a:pPr>
            <a:r>
              <a:rPr lang="en-US" sz="1533">
                <a:solidFill>
                  <a:srgbClr val="504C49"/>
                </a:solidFill>
                <a:latin typeface="Arimo"/>
                <a:ea typeface="Arimo"/>
                <a:cs typeface="Arimo"/>
                <a:sym typeface="Arimo"/>
              </a:rPr>
              <a:t>Conclusion</a:t>
            </a:r>
          </a:p>
        </p:txBody>
      </p:sp>
      <p:sp>
        <p:nvSpPr>
          <p:cNvPr name="TextBox 17" id="17"/>
          <p:cNvSpPr txBox="true"/>
          <p:nvPr/>
        </p:nvSpPr>
        <p:spPr>
          <a:xfrm rot="0">
            <a:off x="1157605" y="3328511"/>
            <a:ext cx="7934563" cy="461486"/>
          </a:xfrm>
          <a:prstGeom prst="rect">
            <a:avLst/>
          </a:prstGeom>
        </p:spPr>
        <p:txBody>
          <a:bodyPr anchor="t" rtlCol="false" tIns="0" lIns="0" bIns="0" rIns="0">
            <a:spAutoFit/>
          </a:bodyPr>
          <a:lstStyle/>
          <a:p>
            <a:pPr algn="l">
              <a:lnSpc>
                <a:spcPts val="1666"/>
              </a:lnSpc>
            </a:pPr>
            <a:r>
              <a:rPr lang="en-US" sz="1033">
                <a:solidFill>
                  <a:srgbClr val="504C49"/>
                </a:solidFill>
                <a:latin typeface="Source Serif Pro"/>
                <a:ea typeface="Source Serif Pro"/>
                <a:cs typeface="Source Serif Pro"/>
                <a:sym typeface="Source Serif Pro"/>
              </a:rPr>
              <a:t>The ATM simulation effectively integrates a GUI with database management, showcasing a functional prototype. This project provides invaluable insights into software development for financial applications.</a:t>
            </a:r>
          </a:p>
        </p:txBody>
      </p:sp>
      <p:grpSp>
        <p:nvGrpSpPr>
          <p:cNvPr name="Group 18" id="18"/>
          <p:cNvGrpSpPr/>
          <p:nvPr/>
        </p:nvGrpSpPr>
        <p:grpSpPr>
          <a:xfrm rot="0">
            <a:off x="613172" y="4967923"/>
            <a:ext cx="396875" cy="15240"/>
            <a:chOff x="0" y="0"/>
            <a:chExt cx="529167" cy="20320"/>
          </a:xfrm>
        </p:grpSpPr>
        <p:sp>
          <p:nvSpPr>
            <p:cNvPr name="Freeform 19" id="19"/>
            <p:cNvSpPr/>
            <p:nvPr/>
          </p:nvSpPr>
          <p:spPr>
            <a:xfrm flipH="false" flipV="false" rot="0">
              <a:off x="0" y="0"/>
              <a:ext cx="529209" cy="20320"/>
            </a:xfrm>
            <a:custGeom>
              <a:avLst/>
              <a:gdLst/>
              <a:ahLst/>
              <a:cxnLst/>
              <a:rect r="r" b="b" t="t" l="l"/>
              <a:pathLst>
                <a:path h="20320" w="529209">
                  <a:moveTo>
                    <a:pt x="0" y="10160"/>
                  </a:moveTo>
                  <a:cubicBezTo>
                    <a:pt x="0" y="4572"/>
                    <a:pt x="4572" y="0"/>
                    <a:pt x="10160" y="0"/>
                  </a:cubicBezTo>
                  <a:lnTo>
                    <a:pt x="519049" y="0"/>
                  </a:lnTo>
                  <a:cubicBezTo>
                    <a:pt x="524637" y="0"/>
                    <a:pt x="529209" y="4572"/>
                    <a:pt x="529209" y="10160"/>
                  </a:cubicBezTo>
                  <a:cubicBezTo>
                    <a:pt x="529209" y="15748"/>
                    <a:pt x="524637" y="20320"/>
                    <a:pt x="519049"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20" id="20"/>
          <p:cNvGrpSpPr/>
          <p:nvPr/>
        </p:nvGrpSpPr>
        <p:grpSpPr>
          <a:xfrm rot="0">
            <a:off x="578803" y="4925933"/>
            <a:ext cx="99219" cy="99219"/>
            <a:chOff x="0" y="0"/>
            <a:chExt cx="132292" cy="132292"/>
          </a:xfrm>
        </p:grpSpPr>
        <p:sp>
          <p:nvSpPr>
            <p:cNvPr name="Freeform 21" id="21"/>
            <p:cNvSpPr/>
            <p:nvPr/>
          </p:nvSpPr>
          <p:spPr>
            <a:xfrm flipH="false" flipV="false" rot="0">
              <a:off x="0" y="0"/>
              <a:ext cx="132334" cy="132334"/>
            </a:xfrm>
            <a:custGeom>
              <a:avLst/>
              <a:gdLst/>
              <a:ahLst/>
              <a:cxnLst/>
              <a:rect r="r" b="b" t="t" l="l"/>
              <a:pathLst>
                <a:path h="132334" w="132334">
                  <a:moveTo>
                    <a:pt x="0" y="66167"/>
                  </a:moveTo>
                  <a:cubicBezTo>
                    <a:pt x="0" y="29591"/>
                    <a:pt x="29591" y="0"/>
                    <a:pt x="66167" y="0"/>
                  </a:cubicBezTo>
                  <a:cubicBezTo>
                    <a:pt x="102743" y="0"/>
                    <a:pt x="132334" y="29591"/>
                    <a:pt x="132334" y="66167"/>
                  </a:cubicBezTo>
                  <a:cubicBezTo>
                    <a:pt x="132334" y="102743"/>
                    <a:pt x="102743" y="132334"/>
                    <a:pt x="66167" y="132334"/>
                  </a:cubicBezTo>
                  <a:cubicBezTo>
                    <a:pt x="29591" y="132334"/>
                    <a:pt x="0" y="102616"/>
                    <a:pt x="0" y="66167"/>
                  </a:cubicBezTo>
                  <a:close/>
                </a:path>
              </a:pathLst>
            </a:custGeom>
            <a:solidFill>
              <a:srgbClr val="3E2513"/>
            </a:solidFill>
            <a:ln w="12700">
              <a:solidFill>
                <a:srgbClr val="000000"/>
              </a:solidFill>
            </a:ln>
          </p:spPr>
        </p:sp>
      </p:grpSp>
      <p:grpSp>
        <p:nvGrpSpPr>
          <p:cNvPr name="Group 22" id="22"/>
          <p:cNvGrpSpPr/>
          <p:nvPr/>
        </p:nvGrpSpPr>
        <p:grpSpPr>
          <a:xfrm rot="0">
            <a:off x="1025366" y="4186793"/>
            <a:ext cx="8199041" cy="1577499"/>
            <a:chOff x="0" y="0"/>
            <a:chExt cx="10932054" cy="2103332"/>
          </a:xfrm>
        </p:grpSpPr>
        <p:sp>
          <p:nvSpPr>
            <p:cNvPr name="Freeform 23" id="23"/>
            <p:cNvSpPr/>
            <p:nvPr/>
          </p:nvSpPr>
          <p:spPr>
            <a:xfrm flipH="false" flipV="false" rot="0">
              <a:off x="0" y="0"/>
              <a:ext cx="10932033" cy="2103247"/>
            </a:xfrm>
            <a:custGeom>
              <a:avLst/>
              <a:gdLst/>
              <a:ahLst/>
              <a:cxnLst/>
              <a:rect r="r" b="b" t="t" l="l"/>
              <a:pathLst>
                <a:path h="2103247" w="10932033">
                  <a:moveTo>
                    <a:pt x="0" y="26416"/>
                  </a:moveTo>
                  <a:cubicBezTo>
                    <a:pt x="0" y="11811"/>
                    <a:pt x="11811" y="0"/>
                    <a:pt x="26416" y="0"/>
                  </a:cubicBezTo>
                  <a:lnTo>
                    <a:pt x="10905617" y="0"/>
                  </a:lnTo>
                  <a:cubicBezTo>
                    <a:pt x="10920223" y="0"/>
                    <a:pt x="10932033" y="11811"/>
                    <a:pt x="10932033" y="26416"/>
                  </a:cubicBezTo>
                  <a:lnTo>
                    <a:pt x="10932033" y="2076831"/>
                  </a:lnTo>
                  <a:cubicBezTo>
                    <a:pt x="10932033" y="2091436"/>
                    <a:pt x="10920223" y="2103247"/>
                    <a:pt x="10905617" y="2103247"/>
                  </a:cubicBezTo>
                  <a:lnTo>
                    <a:pt x="26416" y="2103247"/>
                  </a:lnTo>
                  <a:cubicBezTo>
                    <a:pt x="11811" y="2103247"/>
                    <a:pt x="0" y="2091436"/>
                    <a:pt x="0" y="2076831"/>
                  </a:cubicBezTo>
                  <a:close/>
                </a:path>
              </a:pathLst>
            </a:custGeom>
            <a:solidFill>
              <a:srgbClr val="F9F7F7"/>
            </a:solidFill>
            <a:ln w="12700">
              <a:solidFill>
                <a:srgbClr val="000000"/>
              </a:solidFill>
            </a:ln>
          </p:spPr>
        </p:sp>
      </p:grpSp>
      <p:sp>
        <p:nvSpPr>
          <p:cNvPr name="TextBox 24" id="24"/>
          <p:cNvSpPr txBox="true"/>
          <p:nvPr/>
        </p:nvSpPr>
        <p:spPr>
          <a:xfrm rot="0">
            <a:off x="1157605" y="4290457"/>
            <a:ext cx="1984693" cy="276622"/>
          </a:xfrm>
          <a:prstGeom prst="rect">
            <a:avLst/>
          </a:prstGeom>
        </p:spPr>
        <p:txBody>
          <a:bodyPr anchor="t" rtlCol="false" tIns="0" lIns="0" bIns="0" rIns="0">
            <a:spAutoFit/>
          </a:bodyPr>
          <a:lstStyle/>
          <a:p>
            <a:pPr algn="l">
              <a:lnSpc>
                <a:spcPts val="1933"/>
              </a:lnSpc>
            </a:pPr>
            <a:r>
              <a:rPr lang="en-US" sz="1533">
                <a:solidFill>
                  <a:srgbClr val="504C49"/>
                </a:solidFill>
                <a:latin typeface="Arimo"/>
                <a:ea typeface="Arimo"/>
                <a:cs typeface="Arimo"/>
                <a:sym typeface="Arimo"/>
              </a:rPr>
              <a:t>Future Works</a:t>
            </a:r>
          </a:p>
        </p:txBody>
      </p:sp>
      <p:sp>
        <p:nvSpPr>
          <p:cNvPr name="TextBox 25" id="25"/>
          <p:cNvSpPr txBox="true"/>
          <p:nvPr/>
        </p:nvSpPr>
        <p:spPr>
          <a:xfrm rot="0">
            <a:off x="1157605" y="4608354"/>
            <a:ext cx="7934563" cy="249793"/>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Multi-user Account Management:</a:t>
            </a:r>
            <a:r>
              <a:rPr lang="en-US" sz="1033">
                <a:solidFill>
                  <a:srgbClr val="504C49"/>
                </a:solidFill>
                <a:latin typeface="Source Serif Pro"/>
                <a:ea typeface="Source Serif Pro"/>
                <a:cs typeface="Source Serif Pro"/>
                <a:sym typeface="Source Serif Pro"/>
              </a:rPr>
              <a:t> Implement user registration and multiple account types.</a:t>
            </a:r>
          </a:p>
        </p:txBody>
      </p:sp>
      <p:sp>
        <p:nvSpPr>
          <p:cNvPr name="TextBox 26" id="26"/>
          <p:cNvSpPr txBox="true"/>
          <p:nvPr/>
        </p:nvSpPr>
        <p:spPr>
          <a:xfrm rot="0">
            <a:off x="1157605" y="4866323"/>
            <a:ext cx="7934563" cy="249793"/>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Enhanced Security:</a:t>
            </a:r>
            <a:r>
              <a:rPr lang="en-US" sz="1033">
                <a:solidFill>
                  <a:srgbClr val="504C49"/>
                </a:solidFill>
                <a:latin typeface="Source Serif Pro"/>
                <a:ea typeface="Source Serif Pro"/>
                <a:cs typeface="Source Serif Pro"/>
                <a:sym typeface="Source Serif Pro"/>
              </a:rPr>
              <a:t> Integrate encryption for sensitive data like PINs.</a:t>
            </a:r>
          </a:p>
        </p:txBody>
      </p:sp>
      <p:sp>
        <p:nvSpPr>
          <p:cNvPr name="TextBox 27" id="27"/>
          <p:cNvSpPr txBox="true"/>
          <p:nvPr/>
        </p:nvSpPr>
        <p:spPr>
          <a:xfrm rot="0">
            <a:off x="1157605" y="5124291"/>
            <a:ext cx="7934563" cy="249793"/>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Real-time Integration:</a:t>
            </a:r>
            <a:r>
              <a:rPr lang="en-US" sz="1033">
                <a:solidFill>
                  <a:srgbClr val="504C49"/>
                </a:solidFill>
                <a:latin typeface="Source Serif Pro"/>
                <a:ea typeface="Source Serif Pro"/>
                <a:cs typeface="Source Serif Pro"/>
                <a:sym typeface="Source Serif Pro"/>
              </a:rPr>
              <a:t> Connect to external bank servers for live data processing.</a:t>
            </a:r>
          </a:p>
        </p:txBody>
      </p:sp>
      <p:sp>
        <p:nvSpPr>
          <p:cNvPr name="TextBox 28" id="28"/>
          <p:cNvSpPr txBox="true"/>
          <p:nvPr/>
        </p:nvSpPr>
        <p:spPr>
          <a:xfrm rot="0">
            <a:off x="1157605" y="5382260"/>
            <a:ext cx="7934563" cy="249793"/>
          </a:xfrm>
          <a:prstGeom prst="rect">
            <a:avLst/>
          </a:prstGeom>
        </p:spPr>
        <p:txBody>
          <a:bodyPr anchor="t" rtlCol="false" tIns="0" lIns="0" bIns="0" rIns="0">
            <a:spAutoFit/>
          </a:bodyPr>
          <a:lstStyle/>
          <a:p>
            <a:pPr algn="l" marL="83114" indent="-41557" lvl="1">
              <a:lnSpc>
                <a:spcPts val="1666"/>
              </a:lnSpc>
              <a:buFont typeface="Arial"/>
              <a:buChar char="•"/>
            </a:pPr>
            <a:r>
              <a:rPr lang="en-US" b="true" sz="1033">
                <a:solidFill>
                  <a:srgbClr val="504C49"/>
                </a:solidFill>
                <a:latin typeface="Source Serif Pro Bold"/>
                <a:ea typeface="Source Serif Pro Bold"/>
                <a:cs typeface="Source Serif Pro Bold"/>
                <a:sym typeface="Source Serif Pro Bold"/>
              </a:rPr>
              <a:t>User Convenience:</a:t>
            </a:r>
            <a:r>
              <a:rPr lang="en-US" sz="1033">
                <a:solidFill>
                  <a:srgbClr val="504C49"/>
                </a:solidFill>
                <a:latin typeface="Source Serif Pro"/>
                <a:ea typeface="Source Serif Pro"/>
                <a:cs typeface="Source Serif Pro"/>
                <a:sym typeface="Source Serif Pro"/>
              </a:rPr>
              <a:t> Add features like receipt printing and mobile transaction notifications.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9753600" cy="7315200"/>
            <a:chOff x="0" y="0"/>
            <a:chExt cx="13004800" cy="9753600"/>
          </a:xfrm>
        </p:grpSpPr>
        <p:sp>
          <p:nvSpPr>
            <p:cNvPr name="Freeform 3" id="3"/>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7F3F0"/>
            </a:solidFill>
            <a:ln w="12700">
              <a:solidFill>
                <a:srgbClr val="000000"/>
              </a:solidFill>
            </a:ln>
          </p:spPr>
        </p:sp>
      </p:grpSp>
      <p:grpSp>
        <p:nvGrpSpPr>
          <p:cNvPr name="Group 4" id="4"/>
          <p:cNvGrpSpPr/>
          <p:nvPr/>
        </p:nvGrpSpPr>
        <p:grpSpPr>
          <a:xfrm rot="0">
            <a:off x="0" y="0"/>
            <a:ext cx="9753600" cy="7315200"/>
            <a:chOff x="0" y="0"/>
            <a:chExt cx="13004800" cy="9753600"/>
          </a:xfrm>
        </p:grpSpPr>
        <p:sp>
          <p:nvSpPr>
            <p:cNvPr name="Freeform 5" id="5"/>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close/>
                </a:path>
              </a:pathLst>
            </a:custGeom>
            <a:solidFill>
              <a:srgbClr val="FFFFFF"/>
            </a:solidFill>
            <a:ln w="12700">
              <a:solidFill>
                <a:srgbClr val="000000"/>
              </a:solidFill>
            </a:ln>
          </p:spPr>
        </p:sp>
      </p:grpSp>
      <p:grpSp>
        <p:nvGrpSpPr>
          <p:cNvPr name="Group 6" id="6"/>
          <p:cNvGrpSpPr>
            <a:grpSpLocks noChangeAspect="true"/>
          </p:cNvGrpSpPr>
          <p:nvPr/>
        </p:nvGrpSpPr>
        <p:grpSpPr>
          <a:xfrm rot="0">
            <a:off x="0" y="0"/>
            <a:ext cx="9753600" cy="1653937"/>
            <a:chOff x="0" y="0"/>
            <a:chExt cx="13004800" cy="2205249"/>
          </a:xfrm>
        </p:grpSpPr>
        <p:sp>
          <p:nvSpPr>
            <p:cNvPr name="Freeform 7" id="7" descr="preencoded.png"/>
            <p:cNvSpPr/>
            <p:nvPr/>
          </p:nvSpPr>
          <p:spPr>
            <a:xfrm flipH="false" flipV="false" rot="0">
              <a:off x="0" y="0"/>
              <a:ext cx="13004800" cy="2205228"/>
            </a:xfrm>
            <a:custGeom>
              <a:avLst/>
              <a:gdLst/>
              <a:ahLst/>
              <a:cxnLst/>
              <a:rect r="r" b="b" t="t" l="l"/>
              <a:pathLst>
                <a:path h="2205228" w="13004800">
                  <a:moveTo>
                    <a:pt x="0" y="0"/>
                  </a:moveTo>
                  <a:lnTo>
                    <a:pt x="13004800" y="0"/>
                  </a:lnTo>
                  <a:lnTo>
                    <a:pt x="13004800" y="2205228"/>
                  </a:lnTo>
                  <a:lnTo>
                    <a:pt x="0" y="2205228"/>
                  </a:lnTo>
                  <a:lnTo>
                    <a:pt x="0" y="0"/>
                  </a:lnTo>
                  <a:close/>
                </a:path>
              </a:pathLst>
            </a:custGeom>
            <a:blipFill>
              <a:blip r:embed="rId3"/>
              <a:stretch>
                <a:fillRect l="0" t="-64" r="0" b="-65"/>
              </a:stretch>
            </a:blipFill>
          </p:spPr>
        </p:sp>
      </p:grpSp>
      <p:sp>
        <p:nvSpPr>
          <p:cNvPr name="TextBox 8" id="8"/>
          <p:cNvSpPr txBox="true"/>
          <p:nvPr/>
        </p:nvSpPr>
        <p:spPr>
          <a:xfrm rot="0">
            <a:off x="529193" y="2799477"/>
            <a:ext cx="4564856" cy="608647"/>
          </a:xfrm>
          <a:prstGeom prst="rect">
            <a:avLst/>
          </a:prstGeom>
        </p:spPr>
        <p:txBody>
          <a:bodyPr anchor="t" rtlCol="false" tIns="0" lIns="0" bIns="0" rIns="0">
            <a:spAutoFit/>
          </a:bodyPr>
          <a:lstStyle/>
          <a:p>
            <a:pPr algn="l">
              <a:lnSpc>
                <a:spcPts val="4466"/>
              </a:lnSpc>
            </a:pPr>
            <a:r>
              <a:rPr lang="en-US" sz="3566" b="true">
                <a:solidFill>
                  <a:srgbClr val="201B18"/>
                </a:solidFill>
                <a:latin typeface="Arimo Bold"/>
                <a:ea typeface="Arimo Bold"/>
                <a:cs typeface="Arimo Bold"/>
                <a:sym typeface="Arimo Bold"/>
              </a:rPr>
              <a:t>References</a:t>
            </a:r>
          </a:p>
        </p:txBody>
      </p:sp>
      <p:grpSp>
        <p:nvGrpSpPr>
          <p:cNvPr name="Group 9" id="9"/>
          <p:cNvGrpSpPr/>
          <p:nvPr/>
        </p:nvGrpSpPr>
        <p:grpSpPr>
          <a:xfrm rot="0">
            <a:off x="628412" y="3606562"/>
            <a:ext cx="15240" cy="2524998"/>
            <a:chOff x="0" y="0"/>
            <a:chExt cx="20320" cy="3366664"/>
          </a:xfrm>
        </p:grpSpPr>
        <p:sp>
          <p:nvSpPr>
            <p:cNvPr name="Freeform 10" id="10"/>
            <p:cNvSpPr/>
            <p:nvPr/>
          </p:nvSpPr>
          <p:spPr>
            <a:xfrm flipH="false" flipV="false" rot="0">
              <a:off x="0" y="0"/>
              <a:ext cx="20320" cy="3366643"/>
            </a:xfrm>
            <a:custGeom>
              <a:avLst/>
              <a:gdLst/>
              <a:ahLst/>
              <a:cxnLst/>
              <a:rect r="r" b="b" t="t" l="l"/>
              <a:pathLst>
                <a:path h="3366643" w="20320">
                  <a:moveTo>
                    <a:pt x="0" y="10160"/>
                  </a:moveTo>
                  <a:cubicBezTo>
                    <a:pt x="0" y="4572"/>
                    <a:pt x="4572" y="0"/>
                    <a:pt x="10160" y="0"/>
                  </a:cubicBezTo>
                  <a:cubicBezTo>
                    <a:pt x="15748" y="0"/>
                    <a:pt x="20320" y="4572"/>
                    <a:pt x="20320" y="10160"/>
                  </a:cubicBezTo>
                  <a:lnTo>
                    <a:pt x="20320" y="3356483"/>
                  </a:lnTo>
                  <a:cubicBezTo>
                    <a:pt x="20320" y="3362071"/>
                    <a:pt x="15748" y="3366643"/>
                    <a:pt x="10160" y="3366643"/>
                  </a:cubicBezTo>
                  <a:cubicBezTo>
                    <a:pt x="4572" y="3366643"/>
                    <a:pt x="0" y="3362071"/>
                    <a:pt x="0" y="3356483"/>
                  </a:cubicBezTo>
                  <a:close/>
                </a:path>
              </a:pathLst>
            </a:custGeom>
            <a:solidFill>
              <a:srgbClr val="D8D4D4"/>
            </a:solidFill>
            <a:ln w="12700">
              <a:solidFill>
                <a:srgbClr val="000000"/>
              </a:solidFill>
            </a:ln>
          </p:spPr>
        </p:sp>
      </p:grpSp>
      <p:grpSp>
        <p:nvGrpSpPr>
          <p:cNvPr name="Group 11" id="11"/>
          <p:cNvGrpSpPr/>
          <p:nvPr/>
        </p:nvGrpSpPr>
        <p:grpSpPr>
          <a:xfrm rot="0">
            <a:off x="613172" y="3980101"/>
            <a:ext cx="396875" cy="15240"/>
            <a:chOff x="0" y="0"/>
            <a:chExt cx="529167" cy="20320"/>
          </a:xfrm>
        </p:grpSpPr>
        <p:sp>
          <p:nvSpPr>
            <p:cNvPr name="Freeform 12" id="12"/>
            <p:cNvSpPr/>
            <p:nvPr/>
          </p:nvSpPr>
          <p:spPr>
            <a:xfrm flipH="false" flipV="false" rot="0">
              <a:off x="0" y="0"/>
              <a:ext cx="529209" cy="20320"/>
            </a:xfrm>
            <a:custGeom>
              <a:avLst/>
              <a:gdLst/>
              <a:ahLst/>
              <a:cxnLst/>
              <a:rect r="r" b="b" t="t" l="l"/>
              <a:pathLst>
                <a:path h="20320" w="529209">
                  <a:moveTo>
                    <a:pt x="0" y="10160"/>
                  </a:moveTo>
                  <a:cubicBezTo>
                    <a:pt x="0" y="4572"/>
                    <a:pt x="4572" y="0"/>
                    <a:pt x="10160" y="0"/>
                  </a:cubicBezTo>
                  <a:lnTo>
                    <a:pt x="519049" y="0"/>
                  </a:lnTo>
                  <a:cubicBezTo>
                    <a:pt x="524637" y="0"/>
                    <a:pt x="529209" y="4572"/>
                    <a:pt x="529209" y="10160"/>
                  </a:cubicBezTo>
                  <a:cubicBezTo>
                    <a:pt x="529209" y="15748"/>
                    <a:pt x="524637" y="20320"/>
                    <a:pt x="519049"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13" id="13"/>
          <p:cNvGrpSpPr/>
          <p:nvPr/>
        </p:nvGrpSpPr>
        <p:grpSpPr>
          <a:xfrm rot="0">
            <a:off x="578803" y="3938111"/>
            <a:ext cx="99219" cy="99219"/>
            <a:chOff x="0" y="0"/>
            <a:chExt cx="132292" cy="132292"/>
          </a:xfrm>
        </p:grpSpPr>
        <p:sp>
          <p:nvSpPr>
            <p:cNvPr name="Freeform 14" id="14"/>
            <p:cNvSpPr/>
            <p:nvPr/>
          </p:nvSpPr>
          <p:spPr>
            <a:xfrm flipH="false" flipV="false" rot="0">
              <a:off x="0" y="0"/>
              <a:ext cx="132334" cy="132334"/>
            </a:xfrm>
            <a:custGeom>
              <a:avLst/>
              <a:gdLst/>
              <a:ahLst/>
              <a:cxnLst/>
              <a:rect r="r" b="b" t="t" l="l"/>
              <a:pathLst>
                <a:path h="132334" w="132334">
                  <a:moveTo>
                    <a:pt x="0" y="66167"/>
                  </a:moveTo>
                  <a:cubicBezTo>
                    <a:pt x="0" y="29591"/>
                    <a:pt x="29591" y="0"/>
                    <a:pt x="66167" y="0"/>
                  </a:cubicBezTo>
                  <a:cubicBezTo>
                    <a:pt x="102743" y="0"/>
                    <a:pt x="132334" y="29591"/>
                    <a:pt x="132334" y="66167"/>
                  </a:cubicBezTo>
                  <a:cubicBezTo>
                    <a:pt x="132334" y="102743"/>
                    <a:pt x="102743" y="132334"/>
                    <a:pt x="66167" y="132334"/>
                  </a:cubicBezTo>
                  <a:cubicBezTo>
                    <a:pt x="29591" y="132334"/>
                    <a:pt x="0" y="102616"/>
                    <a:pt x="0" y="66167"/>
                  </a:cubicBezTo>
                  <a:close/>
                </a:path>
              </a:pathLst>
            </a:custGeom>
            <a:solidFill>
              <a:srgbClr val="3E2513"/>
            </a:solidFill>
            <a:ln w="12700">
              <a:solidFill>
                <a:srgbClr val="000000"/>
              </a:solidFill>
            </a:ln>
          </p:spPr>
        </p:sp>
      </p:grpSp>
      <p:grpSp>
        <p:nvGrpSpPr>
          <p:cNvPr name="Group 15" id="15"/>
          <p:cNvGrpSpPr/>
          <p:nvPr/>
        </p:nvGrpSpPr>
        <p:grpSpPr>
          <a:xfrm rot="0">
            <a:off x="1025366" y="3606562"/>
            <a:ext cx="8199041" cy="762317"/>
            <a:chOff x="0" y="0"/>
            <a:chExt cx="10932054" cy="1016423"/>
          </a:xfrm>
        </p:grpSpPr>
        <p:sp>
          <p:nvSpPr>
            <p:cNvPr name="Freeform 16" id="16"/>
            <p:cNvSpPr/>
            <p:nvPr/>
          </p:nvSpPr>
          <p:spPr>
            <a:xfrm flipH="false" flipV="false" rot="0">
              <a:off x="0" y="0"/>
              <a:ext cx="10932033" cy="1016381"/>
            </a:xfrm>
            <a:custGeom>
              <a:avLst/>
              <a:gdLst/>
              <a:ahLst/>
              <a:cxnLst/>
              <a:rect r="r" b="b" t="t" l="l"/>
              <a:pathLst>
                <a:path h="1016381" w="10932033">
                  <a:moveTo>
                    <a:pt x="0" y="26416"/>
                  </a:moveTo>
                  <a:cubicBezTo>
                    <a:pt x="0" y="11811"/>
                    <a:pt x="11811" y="0"/>
                    <a:pt x="26416" y="0"/>
                  </a:cubicBezTo>
                  <a:lnTo>
                    <a:pt x="10905617" y="0"/>
                  </a:lnTo>
                  <a:cubicBezTo>
                    <a:pt x="10920223" y="0"/>
                    <a:pt x="10932033" y="11811"/>
                    <a:pt x="10932033" y="26416"/>
                  </a:cubicBezTo>
                  <a:lnTo>
                    <a:pt x="10932033" y="989965"/>
                  </a:lnTo>
                  <a:cubicBezTo>
                    <a:pt x="10932033" y="1004570"/>
                    <a:pt x="10920223" y="1016381"/>
                    <a:pt x="10905617" y="1016381"/>
                  </a:cubicBezTo>
                  <a:lnTo>
                    <a:pt x="26416" y="1016381"/>
                  </a:lnTo>
                  <a:cubicBezTo>
                    <a:pt x="11811" y="1016381"/>
                    <a:pt x="0" y="1004570"/>
                    <a:pt x="0" y="989965"/>
                  </a:cubicBezTo>
                  <a:close/>
                </a:path>
              </a:pathLst>
            </a:custGeom>
            <a:solidFill>
              <a:srgbClr val="F9F7F7"/>
            </a:solidFill>
            <a:ln w="12700">
              <a:solidFill>
                <a:srgbClr val="000000"/>
              </a:solidFill>
            </a:ln>
          </p:spPr>
        </p:sp>
      </p:grpSp>
      <p:sp>
        <p:nvSpPr>
          <p:cNvPr name="TextBox 17" id="17"/>
          <p:cNvSpPr txBox="true"/>
          <p:nvPr/>
        </p:nvSpPr>
        <p:spPr>
          <a:xfrm rot="0">
            <a:off x="1157605" y="3719751"/>
            <a:ext cx="2551668" cy="225822"/>
          </a:xfrm>
          <a:prstGeom prst="rect">
            <a:avLst/>
          </a:prstGeom>
        </p:spPr>
        <p:txBody>
          <a:bodyPr anchor="t" rtlCol="false" tIns="0" lIns="0" bIns="0" rIns="0">
            <a:spAutoFit/>
          </a:bodyPr>
          <a:lstStyle/>
          <a:p>
            <a:pPr algn="l">
              <a:lnSpc>
                <a:spcPts val="1599"/>
              </a:lnSpc>
            </a:pPr>
            <a:r>
              <a:rPr lang="en-US" sz="1300">
                <a:solidFill>
                  <a:srgbClr val="504C49"/>
                </a:solidFill>
                <a:latin typeface="Arimo"/>
                <a:ea typeface="Arimo"/>
                <a:cs typeface="Arimo"/>
                <a:sym typeface="Arimo"/>
              </a:rPr>
              <a:t>Python Official Documentation</a:t>
            </a:r>
          </a:p>
        </p:txBody>
      </p:sp>
      <p:sp>
        <p:nvSpPr>
          <p:cNvPr name="TextBox 18" id="18"/>
          <p:cNvSpPr txBox="true"/>
          <p:nvPr/>
        </p:nvSpPr>
        <p:spPr>
          <a:xfrm rot="0">
            <a:off x="1157605" y="3986847"/>
            <a:ext cx="7934563" cy="249793"/>
          </a:xfrm>
          <a:prstGeom prst="rect">
            <a:avLst/>
          </a:prstGeom>
        </p:spPr>
        <p:txBody>
          <a:bodyPr anchor="t" rtlCol="false" tIns="0" lIns="0" bIns="0" rIns="0">
            <a:spAutoFit/>
          </a:bodyPr>
          <a:lstStyle/>
          <a:p>
            <a:pPr algn="l">
              <a:lnSpc>
                <a:spcPts val="1666"/>
              </a:lnSpc>
            </a:pPr>
            <a:r>
              <a:rPr lang="en-US" sz="1033" u="sng">
                <a:solidFill>
                  <a:srgbClr val="3E2513"/>
                </a:solidFill>
                <a:latin typeface="Source Serif Pro"/>
                <a:ea typeface="Source Serif Pro"/>
                <a:cs typeface="Source Serif Pro"/>
                <a:sym typeface="Source Serif Pro"/>
                <a:hlinkClick r:id="rId4" tooltip="https://docs.python.org"/>
              </a:rPr>
              <a:t>https://docs.python.org</a:t>
            </a:r>
          </a:p>
        </p:txBody>
      </p:sp>
      <p:grpSp>
        <p:nvGrpSpPr>
          <p:cNvPr name="Group 19" id="19"/>
          <p:cNvGrpSpPr/>
          <p:nvPr/>
        </p:nvGrpSpPr>
        <p:grpSpPr>
          <a:xfrm rot="0">
            <a:off x="613172" y="4861401"/>
            <a:ext cx="396875" cy="15240"/>
            <a:chOff x="0" y="0"/>
            <a:chExt cx="529167" cy="20320"/>
          </a:xfrm>
        </p:grpSpPr>
        <p:sp>
          <p:nvSpPr>
            <p:cNvPr name="Freeform 20" id="20"/>
            <p:cNvSpPr/>
            <p:nvPr/>
          </p:nvSpPr>
          <p:spPr>
            <a:xfrm flipH="false" flipV="false" rot="0">
              <a:off x="0" y="0"/>
              <a:ext cx="529209" cy="20320"/>
            </a:xfrm>
            <a:custGeom>
              <a:avLst/>
              <a:gdLst/>
              <a:ahLst/>
              <a:cxnLst/>
              <a:rect r="r" b="b" t="t" l="l"/>
              <a:pathLst>
                <a:path h="20320" w="529209">
                  <a:moveTo>
                    <a:pt x="0" y="10160"/>
                  </a:moveTo>
                  <a:cubicBezTo>
                    <a:pt x="0" y="4572"/>
                    <a:pt x="4572" y="0"/>
                    <a:pt x="10160" y="0"/>
                  </a:cubicBezTo>
                  <a:lnTo>
                    <a:pt x="519049" y="0"/>
                  </a:lnTo>
                  <a:cubicBezTo>
                    <a:pt x="524637" y="0"/>
                    <a:pt x="529209" y="4572"/>
                    <a:pt x="529209" y="10160"/>
                  </a:cubicBezTo>
                  <a:cubicBezTo>
                    <a:pt x="529209" y="15748"/>
                    <a:pt x="524637" y="20320"/>
                    <a:pt x="519049"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21" id="21"/>
          <p:cNvGrpSpPr/>
          <p:nvPr/>
        </p:nvGrpSpPr>
        <p:grpSpPr>
          <a:xfrm rot="0">
            <a:off x="578803" y="4819412"/>
            <a:ext cx="99219" cy="99219"/>
            <a:chOff x="0" y="0"/>
            <a:chExt cx="132292" cy="132292"/>
          </a:xfrm>
        </p:grpSpPr>
        <p:sp>
          <p:nvSpPr>
            <p:cNvPr name="Freeform 22" id="22"/>
            <p:cNvSpPr/>
            <p:nvPr/>
          </p:nvSpPr>
          <p:spPr>
            <a:xfrm flipH="false" flipV="false" rot="0">
              <a:off x="0" y="0"/>
              <a:ext cx="132334" cy="132334"/>
            </a:xfrm>
            <a:custGeom>
              <a:avLst/>
              <a:gdLst/>
              <a:ahLst/>
              <a:cxnLst/>
              <a:rect r="r" b="b" t="t" l="l"/>
              <a:pathLst>
                <a:path h="132334" w="132334">
                  <a:moveTo>
                    <a:pt x="0" y="66167"/>
                  </a:moveTo>
                  <a:cubicBezTo>
                    <a:pt x="0" y="29591"/>
                    <a:pt x="29591" y="0"/>
                    <a:pt x="66167" y="0"/>
                  </a:cubicBezTo>
                  <a:cubicBezTo>
                    <a:pt x="102743" y="0"/>
                    <a:pt x="132334" y="29591"/>
                    <a:pt x="132334" y="66167"/>
                  </a:cubicBezTo>
                  <a:cubicBezTo>
                    <a:pt x="132334" y="102743"/>
                    <a:pt x="102743" y="132334"/>
                    <a:pt x="66167" y="132334"/>
                  </a:cubicBezTo>
                  <a:cubicBezTo>
                    <a:pt x="29591" y="132334"/>
                    <a:pt x="0" y="102616"/>
                    <a:pt x="0" y="66167"/>
                  </a:cubicBezTo>
                  <a:close/>
                </a:path>
              </a:pathLst>
            </a:custGeom>
            <a:solidFill>
              <a:srgbClr val="3E2513"/>
            </a:solidFill>
            <a:ln w="12700">
              <a:solidFill>
                <a:srgbClr val="000000"/>
              </a:solidFill>
            </a:ln>
          </p:spPr>
        </p:sp>
      </p:grpSp>
      <p:grpSp>
        <p:nvGrpSpPr>
          <p:cNvPr name="Group 23" id="23"/>
          <p:cNvGrpSpPr/>
          <p:nvPr/>
        </p:nvGrpSpPr>
        <p:grpSpPr>
          <a:xfrm rot="0">
            <a:off x="1025366" y="4633436"/>
            <a:ext cx="8199041" cy="471249"/>
            <a:chOff x="0" y="0"/>
            <a:chExt cx="10932054" cy="628332"/>
          </a:xfrm>
        </p:grpSpPr>
        <p:sp>
          <p:nvSpPr>
            <p:cNvPr name="Freeform 24" id="24"/>
            <p:cNvSpPr/>
            <p:nvPr/>
          </p:nvSpPr>
          <p:spPr>
            <a:xfrm flipH="false" flipV="false" rot="0">
              <a:off x="0" y="0"/>
              <a:ext cx="10932033" cy="628269"/>
            </a:xfrm>
            <a:custGeom>
              <a:avLst/>
              <a:gdLst/>
              <a:ahLst/>
              <a:cxnLst/>
              <a:rect r="r" b="b" t="t" l="l"/>
              <a:pathLst>
                <a:path h="628269" w="10932033">
                  <a:moveTo>
                    <a:pt x="0" y="26416"/>
                  </a:moveTo>
                  <a:cubicBezTo>
                    <a:pt x="0" y="11811"/>
                    <a:pt x="11811" y="0"/>
                    <a:pt x="26416" y="0"/>
                  </a:cubicBezTo>
                  <a:lnTo>
                    <a:pt x="10905617" y="0"/>
                  </a:lnTo>
                  <a:cubicBezTo>
                    <a:pt x="10920223" y="0"/>
                    <a:pt x="10932033" y="11811"/>
                    <a:pt x="10932033" y="26416"/>
                  </a:cubicBezTo>
                  <a:lnTo>
                    <a:pt x="10932033" y="601853"/>
                  </a:lnTo>
                  <a:cubicBezTo>
                    <a:pt x="10932033" y="616458"/>
                    <a:pt x="10920223" y="628269"/>
                    <a:pt x="10905617" y="628269"/>
                  </a:cubicBezTo>
                  <a:lnTo>
                    <a:pt x="26416" y="628269"/>
                  </a:lnTo>
                  <a:cubicBezTo>
                    <a:pt x="11811" y="628269"/>
                    <a:pt x="0" y="616458"/>
                    <a:pt x="0" y="601853"/>
                  </a:cubicBezTo>
                  <a:close/>
                </a:path>
              </a:pathLst>
            </a:custGeom>
            <a:solidFill>
              <a:srgbClr val="F9F7F7"/>
            </a:solidFill>
            <a:ln w="12700">
              <a:solidFill>
                <a:srgbClr val="000000"/>
              </a:solidFill>
            </a:ln>
          </p:spPr>
        </p:sp>
      </p:grpSp>
      <p:sp>
        <p:nvSpPr>
          <p:cNvPr name="TextBox 25" id="25"/>
          <p:cNvSpPr txBox="true"/>
          <p:nvPr/>
        </p:nvSpPr>
        <p:spPr>
          <a:xfrm rot="0">
            <a:off x="1157605" y="4746625"/>
            <a:ext cx="2456815" cy="225822"/>
          </a:xfrm>
          <a:prstGeom prst="rect">
            <a:avLst/>
          </a:prstGeom>
        </p:spPr>
        <p:txBody>
          <a:bodyPr anchor="t" rtlCol="false" tIns="0" lIns="0" bIns="0" rIns="0">
            <a:spAutoFit/>
          </a:bodyPr>
          <a:lstStyle/>
          <a:p>
            <a:pPr algn="l">
              <a:lnSpc>
                <a:spcPts val="1599"/>
              </a:lnSpc>
            </a:pPr>
            <a:r>
              <a:rPr lang="en-US" sz="1300">
                <a:solidFill>
                  <a:srgbClr val="504C49"/>
                </a:solidFill>
                <a:latin typeface="Arimo"/>
                <a:ea typeface="Arimo"/>
                <a:cs typeface="Arimo"/>
                <a:sym typeface="Arimo"/>
              </a:rPr>
              <a:t>Tkinter GUI Library Resources</a:t>
            </a:r>
          </a:p>
        </p:txBody>
      </p:sp>
      <p:grpSp>
        <p:nvGrpSpPr>
          <p:cNvPr name="Group 26" id="26"/>
          <p:cNvGrpSpPr/>
          <p:nvPr/>
        </p:nvGrpSpPr>
        <p:grpSpPr>
          <a:xfrm rot="0">
            <a:off x="613172" y="5742781"/>
            <a:ext cx="396875" cy="15240"/>
            <a:chOff x="0" y="0"/>
            <a:chExt cx="529167" cy="20320"/>
          </a:xfrm>
        </p:grpSpPr>
        <p:sp>
          <p:nvSpPr>
            <p:cNvPr name="Freeform 27" id="27"/>
            <p:cNvSpPr/>
            <p:nvPr/>
          </p:nvSpPr>
          <p:spPr>
            <a:xfrm flipH="false" flipV="false" rot="0">
              <a:off x="0" y="0"/>
              <a:ext cx="529209" cy="20320"/>
            </a:xfrm>
            <a:custGeom>
              <a:avLst/>
              <a:gdLst/>
              <a:ahLst/>
              <a:cxnLst/>
              <a:rect r="r" b="b" t="t" l="l"/>
              <a:pathLst>
                <a:path h="20320" w="529209">
                  <a:moveTo>
                    <a:pt x="0" y="10160"/>
                  </a:moveTo>
                  <a:cubicBezTo>
                    <a:pt x="0" y="4572"/>
                    <a:pt x="4572" y="0"/>
                    <a:pt x="10160" y="0"/>
                  </a:cubicBezTo>
                  <a:lnTo>
                    <a:pt x="519049" y="0"/>
                  </a:lnTo>
                  <a:cubicBezTo>
                    <a:pt x="524637" y="0"/>
                    <a:pt x="529209" y="4572"/>
                    <a:pt x="529209" y="10160"/>
                  </a:cubicBezTo>
                  <a:cubicBezTo>
                    <a:pt x="529209" y="15748"/>
                    <a:pt x="524637" y="20320"/>
                    <a:pt x="519049" y="20320"/>
                  </a:cubicBezTo>
                  <a:lnTo>
                    <a:pt x="10160" y="20320"/>
                  </a:lnTo>
                  <a:cubicBezTo>
                    <a:pt x="4572" y="20320"/>
                    <a:pt x="0" y="15748"/>
                    <a:pt x="0" y="10160"/>
                  </a:cubicBezTo>
                  <a:close/>
                </a:path>
              </a:pathLst>
            </a:custGeom>
            <a:solidFill>
              <a:srgbClr val="D8D4D4"/>
            </a:solidFill>
            <a:ln w="12700">
              <a:solidFill>
                <a:srgbClr val="000000"/>
              </a:solidFill>
            </a:ln>
          </p:spPr>
        </p:sp>
      </p:grpSp>
      <p:grpSp>
        <p:nvGrpSpPr>
          <p:cNvPr name="Group 28" id="28"/>
          <p:cNvGrpSpPr/>
          <p:nvPr/>
        </p:nvGrpSpPr>
        <p:grpSpPr>
          <a:xfrm rot="0">
            <a:off x="578803" y="5700792"/>
            <a:ext cx="99219" cy="99219"/>
            <a:chOff x="0" y="0"/>
            <a:chExt cx="132292" cy="132292"/>
          </a:xfrm>
        </p:grpSpPr>
        <p:sp>
          <p:nvSpPr>
            <p:cNvPr name="Freeform 29" id="29"/>
            <p:cNvSpPr/>
            <p:nvPr/>
          </p:nvSpPr>
          <p:spPr>
            <a:xfrm flipH="false" flipV="false" rot="0">
              <a:off x="0" y="0"/>
              <a:ext cx="132334" cy="132334"/>
            </a:xfrm>
            <a:custGeom>
              <a:avLst/>
              <a:gdLst/>
              <a:ahLst/>
              <a:cxnLst/>
              <a:rect r="r" b="b" t="t" l="l"/>
              <a:pathLst>
                <a:path h="132334" w="132334">
                  <a:moveTo>
                    <a:pt x="0" y="66167"/>
                  </a:moveTo>
                  <a:cubicBezTo>
                    <a:pt x="0" y="29591"/>
                    <a:pt x="29591" y="0"/>
                    <a:pt x="66167" y="0"/>
                  </a:cubicBezTo>
                  <a:cubicBezTo>
                    <a:pt x="102743" y="0"/>
                    <a:pt x="132334" y="29591"/>
                    <a:pt x="132334" y="66167"/>
                  </a:cubicBezTo>
                  <a:cubicBezTo>
                    <a:pt x="132334" y="102743"/>
                    <a:pt x="102743" y="132334"/>
                    <a:pt x="66167" y="132334"/>
                  </a:cubicBezTo>
                  <a:cubicBezTo>
                    <a:pt x="29591" y="132334"/>
                    <a:pt x="0" y="102616"/>
                    <a:pt x="0" y="66167"/>
                  </a:cubicBezTo>
                  <a:close/>
                </a:path>
              </a:pathLst>
            </a:custGeom>
            <a:solidFill>
              <a:srgbClr val="3E2513"/>
            </a:solidFill>
            <a:ln w="12700">
              <a:solidFill>
                <a:srgbClr val="000000"/>
              </a:solidFill>
            </a:ln>
          </p:spPr>
        </p:sp>
      </p:grpSp>
      <p:grpSp>
        <p:nvGrpSpPr>
          <p:cNvPr name="Group 30" id="30"/>
          <p:cNvGrpSpPr/>
          <p:nvPr/>
        </p:nvGrpSpPr>
        <p:grpSpPr>
          <a:xfrm rot="0">
            <a:off x="1025366" y="5369243"/>
            <a:ext cx="8199041" cy="762317"/>
            <a:chOff x="0" y="0"/>
            <a:chExt cx="10932054" cy="1016423"/>
          </a:xfrm>
        </p:grpSpPr>
        <p:sp>
          <p:nvSpPr>
            <p:cNvPr name="Freeform 31" id="31"/>
            <p:cNvSpPr/>
            <p:nvPr/>
          </p:nvSpPr>
          <p:spPr>
            <a:xfrm flipH="false" flipV="false" rot="0">
              <a:off x="0" y="0"/>
              <a:ext cx="10932033" cy="1016381"/>
            </a:xfrm>
            <a:custGeom>
              <a:avLst/>
              <a:gdLst/>
              <a:ahLst/>
              <a:cxnLst/>
              <a:rect r="r" b="b" t="t" l="l"/>
              <a:pathLst>
                <a:path h="1016381" w="10932033">
                  <a:moveTo>
                    <a:pt x="0" y="26416"/>
                  </a:moveTo>
                  <a:cubicBezTo>
                    <a:pt x="0" y="11811"/>
                    <a:pt x="11811" y="0"/>
                    <a:pt x="26416" y="0"/>
                  </a:cubicBezTo>
                  <a:lnTo>
                    <a:pt x="10905617" y="0"/>
                  </a:lnTo>
                  <a:cubicBezTo>
                    <a:pt x="10920223" y="0"/>
                    <a:pt x="10932033" y="11811"/>
                    <a:pt x="10932033" y="26416"/>
                  </a:cubicBezTo>
                  <a:lnTo>
                    <a:pt x="10932033" y="989965"/>
                  </a:lnTo>
                  <a:cubicBezTo>
                    <a:pt x="10932033" y="1004570"/>
                    <a:pt x="10920223" y="1016381"/>
                    <a:pt x="10905617" y="1016381"/>
                  </a:cubicBezTo>
                  <a:lnTo>
                    <a:pt x="26416" y="1016381"/>
                  </a:lnTo>
                  <a:cubicBezTo>
                    <a:pt x="11811" y="1016381"/>
                    <a:pt x="0" y="1004570"/>
                    <a:pt x="0" y="989965"/>
                  </a:cubicBezTo>
                  <a:close/>
                </a:path>
              </a:pathLst>
            </a:custGeom>
            <a:solidFill>
              <a:srgbClr val="F9F7F7"/>
            </a:solidFill>
            <a:ln w="12700">
              <a:solidFill>
                <a:srgbClr val="000000"/>
              </a:solidFill>
            </a:ln>
          </p:spPr>
        </p:sp>
      </p:grpSp>
      <p:sp>
        <p:nvSpPr>
          <p:cNvPr name="TextBox 32" id="32"/>
          <p:cNvSpPr txBox="true"/>
          <p:nvPr/>
        </p:nvSpPr>
        <p:spPr>
          <a:xfrm rot="0">
            <a:off x="1157605" y="5482431"/>
            <a:ext cx="2663984" cy="225822"/>
          </a:xfrm>
          <a:prstGeom prst="rect">
            <a:avLst/>
          </a:prstGeom>
        </p:spPr>
        <p:txBody>
          <a:bodyPr anchor="t" rtlCol="false" tIns="0" lIns="0" bIns="0" rIns="0">
            <a:spAutoFit/>
          </a:bodyPr>
          <a:lstStyle/>
          <a:p>
            <a:pPr algn="l">
              <a:lnSpc>
                <a:spcPts val="1599"/>
              </a:lnSpc>
            </a:pPr>
            <a:r>
              <a:rPr lang="en-US" sz="1300">
                <a:solidFill>
                  <a:srgbClr val="504C49"/>
                </a:solidFill>
                <a:latin typeface="Arimo"/>
                <a:ea typeface="Arimo"/>
                <a:cs typeface="Arimo"/>
                <a:sym typeface="Arimo"/>
              </a:rPr>
              <a:t>SQLite Database Documentation</a:t>
            </a:r>
          </a:p>
        </p:txBody>
      </p:sp>
      <p:sp>
        <p:nvSpPr>
          <p:cNvPr name="TextBox 33" id="33"/>
          <p:cNvSpPr txBox="true"/>
          <p:nvPr/>
        </p:nvSpPr>
        <p:spPr>
          <a:xfrm rot="0">
            <a:off x="1157605" y="5749528"/>
            <a:ext cx="7934563" cy="249793"/>
          </a:xfrm>
          <a:prstGeom prst="rect">
            <a:avLst/>
          </a:prstGeom>
        </p:spPr>
        <p:txBody>
          <a:bodyPr anchor="t" rtlCol="false" tIns="0" lIns="0" bIns="0" rIns="0">
            <a:spAutoFit/>
          </a:bodyPr>
          <a:lstStyle/>
          <a:p>
            <a:pPr algn="l">
              <a:lnSpc>
                <a:spcPts val="1666"/>
              </a:lnSpc>
            </a:pPr>
            <a:r>
              <a:rPr lang="en-US" sz="1033" u="sng">
                <a:solidFill>
                  <a:srgbClr val="3E2513"/>
                </a:solidFill>
                <a:latin typeface="Source Serif Pro"/>
                <a:ea typeface="Source Serif Pro"/>
                <a:cs typeface="Source Serif Pro"/>
                <a:sym typeface="Source Serif Pro"/>
                <a:hlinkClick r:id="rId5" tooltip="https://sqlite.org/docs.html"/>
              </a:rPr>
              <a:t>https://sqlite.org/docs.html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DAG51XK84bo</dc:identifier>
  <dcterms:modified xsi:type="dcterms:W3CDTF">2011-08-01T06:04:30Z</dcterms:modified>
  <cp:revision>1</cp:revision>
  <dc:title>ATM-Machine-Simulation.pptx</dc:title>
</cp:coreProperties>
</file>